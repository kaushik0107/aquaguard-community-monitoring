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 id="2147483651" r:id="rId2"/>
  </p:sldMasterIdLst>
  <p:notesMasterIdLst>
    <p:notesMasterId r:id="rId17"/>
  </p:notesMasterIdLst>
  <p:sldIdLst>
    <p:sldId id="258" r:id="rId3"/>
    <p:sldId id="259" r:id="rId4"/>
    <p:sldId id="260" r:id="rId5"/>
    <p:sldId id="261" r:id="rId6"/>
    <p:sldId id="262" r:id="rId7"/>
    <p:sldId id="263" r:id="rId8"/>
    <p:sldId id="257" r:id="rId9"/>
    <p:sldId id="265" r:id="rId10"/>
    <p:sldId id="266" r:id="rId11"/>
    <p:sldId id="267" r:id="rId12"/>
    <p:sldId id="268" r:id="rId13"/>
    <p:sldId id="256" r:id="rId14"/>
    <p:sldId id="269" r:id="rId15"/>
    <p:sldId id="270" r:id="rId16"/>
  </p:sldIdLst>
  <p:sldSz cx="14630400" cy="8229600"/>
  <p:notesSz cx="8229600" cy="14630400"/>
  <p:embeddedFontLst>
    <p:embeddedFont>
      <p:font typeface="Roboto" panose="02000000000000000000" pitchFamily="2" charset="0"/>
      <p:regular r:id="rId18"/>
      <p:bold r:id="rId19"/>
      <p:italic r:id="rId20"/>
      <p:boldItalic r:id="rId21"/>
    </p:embeddedFont>
    <p:embeddedFont>
      <p:font typeface="Roboto Slab" pitchFamily="2" charset="0"/>
      <p:regular r:id="rId22"/>
      <p:bold r:id="rId23"/>
    </p:embeddedFont>
    <p:embeddedFont>
      <p:font typeface="Roboto Slab Light" pitchFamily="2" charset="0"/>
      <p:regular r:id="rId24"/>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5611"/>
    <p:restoredTop sz="94610"/>
  </p:normalViewPr>
  <p:slideViewPr>
    <p:cSldViewPr snapToGrid="0" snapToObjects="1">
      <p:cViewPr varScale="1">
        <p:scale>
          <a:sx n="74" d="100"/>
          <a:sy n="74" d="100"/>
        </p:scale>
        <p:origin x="446" y="7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font" Target="fonts/font1.fntdata"/><Relationship Id="rId26" Type="http://schemas.openxmlformats.org/officeDocument/2006/relationships/viewProps" Target="viewProps.xml"/><Relationship Id="rId3" Type="http://schemas.openxmlformats.org/officeDocument/2006/relationships/slide" Target="slides/slide1.xml"/><Relationship Id="rId21" Type="http://schemas.openxmlformats.org/officeDocument/2006/relationships/font" Target="fonts/font4.fntdata"/><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5" Type="http://schemas.openxmlformats.org/officeDocument/2006/relationships/presProps" Target="pres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font" Target="fonts/font3.fntdata"/><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font" Target="fonts/font7.fntdata"/><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font" Target="fonts/font6.fntdata"/><Relationship Id="rId28" Type="http://schemas.openxmlformats.org/officeDocument/2006/relationships/tableStyles" Target="tableStyles.xml"/><Relationship Id="rId10" Type="http://schemas.openxmlformats.org/officeDocument/2006/relationships/slide" Target="slides/slide8.xml"/><Relationship Id="rId19" Type="http://schemas.openxmlformats.org/officeDocument/2006/relationships/font" Target="fonts/font2.fntdata"/><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font" Target="fonts/font5.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3/1/2026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2F9603-2C24-5E62-57F9-A7DBC05C20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4FA286D-B252-A7F3-CD8C-2BC0EE7312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5632746-F916-0F96-0DA6-3F4D888E825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A040C6F-ED2C-8780-3811-2CDA0F5E3119}"/>
              </a:ext>
            </a:extLst>
          </p:cNvPr>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278230889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36EBCB-5F88-AEF5-113C-F79BA50FFF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7ECFB32-8EBD-E534-555E-F54274B526B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39C87A5-1C3D-BBAD-EA52-7920366709E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7440AE-2F62-19BA-BE0D-7D807BEB95F0}"/>
              </a:ext>
            </a:extLst>
          </p:cNvPr>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360065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7B1A5A8-2A89-A5E9-8B9C-6187D8EF2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6549105-3219-D984-7DE4-2FD621E8646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F3DCCB1-766B-1CE7-B1D1-29D84B4D592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FD32727-BF4A-725B-58CE-6622842F3E86}"/>
              </a:ext>
            </a:extLst>
          </p:cNvPr>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39863161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92601C-4A20-4E50-12DB-66ACC6B9C23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00D569-47F9-CA07-547A-188C6A3B202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32D72E-EBED-2DC6-6651-43E35C01037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AFAEEB6-8D15-E03A-85BA-3F6D9EB27800}"/>
              </a:ext>
            </a:extLst>
          </p:cNvPr>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773994973"/>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DF1F8"/>
          </a:solidFill>
          <a:ln/>
        </p:spPr>
      </p:sp>
      <p:sp>
        <p:nvSpPr>
          <p:cNvPr id="3" name="Shape 1"/>
          <p:cNvSpPr/>
          <p:nvPr/>
        </p:nvSpPr>
        <p:spPr>
          <a:xfrm>
            <a:off x="0" y="0"/>
            <a:ext cx="14630400" cy="8229600"/>
          </a:xfrm>
          <a:prstGeom prst="rect">
            <a:avLst/>
          </a:prstGeom>
          <a:solidFill>
            <a:srgbClr val="FBFCFE"/>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2" Type="http://schemas.openxmlformats.org/officeDocument/2006/relationships/theme" Target="../theme/theme2.xml"/><Relationship Id="rId1" Type="http://schemas.openxmlformats.org/officeDocument/2006/relationships/slideLayout" Target="../slideLayouts/slideLayout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0"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2"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image" Target="../media/image9.svg"/><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7.xml"/><Relationship Id="rId1" Type="http://schemas.openxmlformats.org/officeDocument/2006/relationships/slideLayout" Target="../slideLayouts/slideLayout1.xml"/><Relationship Id="rId6" Type="http://schemas.openxmlformats.org/officeDocument/2006/relationships/image" Target="../media/image7.svg"/><Relationship Id="rId5" Type="http://schemas.openxmlformats.org/officeDocument/2006/relationships/image" Target="../media/image6.png"/><Relationship Id="rId10" Type="http://schemas.openxmlformats.org/officeDocument/2006/relationships/image" Target="../media/image11.svg"/><Relationship Id="rId4" Type="http://schemas.openxmlformats.org/officeDocument/2006/relationships/image" Target="../media/image5.svg"/><Relationship Id="rId9" Type="http://schemas.openxmlformats.org/officeDocument/2006/relationships/image" Target="../media/image10.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5.jpg"/><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3" name="Text 0"/>
          <p:cNvSpPr/>
          <p:nvPr/>
        </p:nvSpPr>
        <p:spPr>
          <a:xfrm>
            <a:off x="1014007" y="3036155"/>
            <a:ext cx="12602385" cy="1639754"/>
          </a:xfrm>
          <a:prstGeom prst="rect">
            <a:avLst/>
          </a:prstGeom>
          <a:noFill/>
          <a:ln/>
        </p:spPr>
        <p:txBody>
          <a:bodyPr wrap="none" lIns="0" tIns="0" rIns="0" bIns="0" rtlCol="0" anchor="t"/>
          <a:lstStyle/>
          <a:p>
            <a:pPr algn="ctr">
              <a:lnSpc>
                <a:spcPts val="5550"/>
              </a:lnSpc>
            </a:pPr>
            <a:r>
              <a:rPr lang="en-US" sz="5400" b="1" dirty="0">
                <a:solidFill>
                  <a:schemeClr val="accent1"/>
                </a:solidFill>
                <a:latin typeface="Roboto Slab" pitchFamily="2" charset="0"/>
                <a:ea typeface="Roboto Slab" pitchFamily="2" charset="0"/>
                <a:cs typeface="Roboto Slab" pitchFamily="2" charset="0"/>
              </a:rPr>
              <a:t>AQUAGUARD COMMUNITY</a:t>
            </a:r>
          </a:p>
          <a:p>
            <a:pPr algn="ctr">
              <a:lnSpc>
                <a:spcPts val="5550"/>
              </a:lnSpc>
            </a:pPr>
            <a:r>
              <a:rPr lang="en-US" sz="5400" b="1" dirty="0">
                <a:solidFill>
                  <a:schemeClr val="accent1"/>
                </a:solidFill>
                <a:latin typeface="Roboto Slab" pitchFamily="2" charset="0"/>
                <a:ea typeface="Roboto Slab" pitchFamily="2" charset="0"/>
                <a:cs typeface="Roboto Slab" pitchFamily="2" charset="0"/>
              </a:rPr>
              <a:t> MONITORING SYSTEM </a:t>
            </a:r>
            <a:endParaRPr lang="en-US" sz="5400" dirty="0">
              <a:latin typeface="Roboto Slab" pitchFamily="2" charset="0"/>
              <a:ea typeface="Roboto Slab" pitchFamily="2" charset="0"/>
              <a:cs typeface="Roboto Slab" pitchFamily="2" charset="0"/>
            </a:endParaRPr>
          </a:p>
        </p:txBody>
      </p:sp>
      <p:sp>
        <p:nvSpPr>
          <p:cNvPr id="6" name="TextBox 5">
            <a:extLst>
              <a:ext uri="{FF2B5EF4-FFF2-40B4-BE49-F238E27FC236}">
                <a16:creationId xmlns:a16="http://schemas.microsoft.com/office/drawing/2014/main" id="{8D3E18F5-0EA1-590F-87DD-3ADEF8F12F26}"/>
              </a:ext>
            </a:extLst>
          </p:cNvPr>
          <p:cNvSpPr txBox="1"/>
          <p:nvPr/>
        </p:nvSpPr>
        <p:spPr>
          <a:xfrm>
            <a:off x="1943100" y="171442"/>
            <a:ext cx="10744200" cy="461665"/>
          </a:xfrm>
          <a:prstGeom prst="rect">
            <a:avLst/>
          </a:prstGeom>
          <a:noFill/>
        </p:spPr>
        <p:txBody>
          <a:bodyPr wrap="square" rtlCol="0">
            <a:spAutoFit/>
          </a:bodyPr>
          <a:lstStyle/>
          <a:p>
            <a:pPr algn="ctr"/>
            <a:r>
              <a:rPr lang="en-US" sz="2400" dirty="0">
                <a:latin typeface="Times New Roman" panose="02020603050405020304" pitchFamily="18" charset="0"/>
                <a:cs typeface="Times New Roman" panose="02020603050405020304" pitchFamily="18" charset="0"/>
              </a:rPr>
              <a:t>  INTERNATIONAL INSITITUTE OF MEDICAL SCIENCE AND TECHNOLOGY              </a:t>
            </a:r>
          </a:p>
        </p:txBody>
      </p:sp>
      <p:pic>
        <p:nvPicPr>
          <p:cNvPr id="5" name="Picture 4" descr="IIMSTC | Bangalore">
            <a:extLst>
              <a:ext uri="{FF2B5EF4-FFF2-40B4-BE49-F238E27FC236}">
                <a16:creationId xmlns:a16="http://schemas.microsoft.com/office/drawing/2014/main" id="{1AE0719D-46A8-B986-80E5-B2B6DF4ED97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72737" y="114301"/>
            <a:ext cx="2047966" cy="14547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1B69BFF-21DE-CC32-2FF7-62F935D68289}"/>
              </a:ext>
            </a:extLst>
          </p:cNvPr>
          <p:cNvSpPr txBox="1"/>
          <p:nvPr/>
        </p:nvSpPr>
        <p:spPr>
          <a:xfrm flipH="1">
            <a:off x="2358738" y="586940"/>
            <a:ext cx="10328562" cy="369332"/>
          </a:xfrm>
          <a:prstGeom prst="rect">
            <a:avLst/>
          </a:prstGeom>
          <a:noFill/>
        </p:spPr>
        <p:txBody>
          <a:bodyPr wrap="square" rtlCol="0">
            <a:spAutoFit/>
          </a:bodyPr>
          <a:lstStyle/>
          <a:p>
            <a:pPr algn="ctr"/>
            <a:r>
              <a:rPr lang="en-US" dirty="0">
                <a:latin typeface="Times New Roman" panose="02020603050405020304" pitchFamily="18" charset="0"/>
                <a:cs typeface="Times New Roman" panose="02020603050405020304" pitchFamily="18" charset="0"/>
              </a:rPr>
              <a:t>Indian Social Institute, 24, Benson Rd, </a:t>
            </a:r>
            <a:r>
              <a:rPr lang="en-US" dirty="0" err="1">
                <a:latin typeface="Times New Roman" panose="02020603050405020304" pitchFamily="18" charset="0"/>
                <a:cs typeface="Times New Roman" panose="02020603050405020304" pitchFamily="18" charset="0"/>
              </a:rPr>
              <a:t>Byadarahalli</a:t>
            </a:r>
            <a:r>
              <a:rPr lang="en-US" dirty="0">
                <a:latin typeface="Times New Roman" panose="02020603050405020304" pitchFamily="18" charset="0"/>
                <a:cs typeface="Times New Roman" panose="02020603050405020304" pitchFamily="18" charset="0"/>
              </a:rPr>
              <a:t>, Benson Town, Bengaluru, Karnataka 560046</a:t>
            </a:r>
            <a:endParaRPr lang="en-IN" dirty="0"/>
          </a:p>
        </p:txBody>
      </p:sp>
      <p:sp>
        <p:nvSpPr>
          <p:cNvPr id="9" name="TextBox 8">
            <a:extLst>
              <a:ext uri="{FF2B5EF4-FFF2-40B4-BE49-F238E27FC236}">
                <a16:creationId xmlns:a16="http://schemas.microsoft.com/office/drawing/2014/main" id="{064C93B4-8B5A-324F-4726-01BB5FF4D524}"/>
              </a:ext>
            </a:extLst>
          </p:cNvPr>
          <p:cNvSpPr txBox="1"/>
          <p:nvPr/>
        </p:nvSpPr>
        <p:spPr>
          <a:xfrm>
            <a:off x="5838512" y="1602177"/>
            <a:ext cx="2953373" cy="707886"/>
          </a:xfrm>
          <a:prstGeom prst="rect">
            <a:avLst/>
          </a:prstGeom>
          <a:noFill/>
        </p:spPr>
        <p:txBody>
          <a:bodyPr wrap="none" rtlCol="0">
            <a:spAutoFit/>
          </a:bodyPr>
          <a:lstStyle/>
          <a:p>
            <a:pPr algn="ctr"/>
            <a:r>
              <a:rPr lang="en-IN" sz="4000" b="1" dirty="0">
                <a:solidFill>
                  <a:srgbClr val="FF0000"/>
                </a:solidFill>
                <a:latin typeface="Times New Roman" panose="02020603050405020304" pitchFamily="18" charset="0"/>
                <a:cs typeface="Times New Roman" panose="02020603050405020304" pitchFamily="18" charset="0"/>
              </a:rPr>
              <a:t>Mini Project</a:t>
            </a:r>
          </a:p>
        </p:txBody>
      </p:sp>
      <p:sp>
        <p:nvSpPr>
          <p:cNvPr id="10" name="TextBox 9">
            <a:extLst>
              <a:ext uri="{FF2B5EF4-FFF2-40B4-BE49-F238E27FC236}">
                <a16:creationId xmlns:a16="http://schemas.microsoft.com/office/drawing/2014/main" id="{F1757693-203A-B119-62C4-5862090C709A}"/>
              </a:ext>
            </a:extLst>
          </p:cNvPr>
          <p:cNvSpPr txBox="1"/>
          <p:nvPr/>
        </p:nvSpPr>
        <p:spPr>
          <a:xfrm>
            <a:off x="264838" y="5704608"/>
            <a:ext cx="3818609" cy="523220"/>
          </a:xfrm>
          <a:prstGeom prst="rect">
            <a:avLst/>
          </a:prstGeom>
          <a:noFill/>
        </p:spPr>
        <p:txBody>
          <a:bodyPr wrap="none" rtlCol="0">
            <a:spAutoFit/>
          </a:bodyPr>
          <a:lstStyle/>
          <a:p>
            <a:r>
              <a:rPr lang="en-US" sz="2800" b="1" dirty="0">
                <a:solidFill>
                  <a:srgbClr val="FF0000"/>
                </a:solidFill>
                <a:latin typeface="Times New Roman" panose="02020603050405020304" pitchFamily="18" charset="0"/>
                <a:cs typeface="Times New Roman" panose="02020603050405020304" pitchFamily="18" charset="0"/>
              </a:rPr>
              <a:t>Presented by:</a:t>
            </a:r>
            <a:r>
              <a:rPr lang="en-US" sz="2800" b="1" dirty="0">
                <a:solidFill>
                  <a:schemeClr val="accent1"/>
                </a:solidFill>
                <a:latin typeface="Times New Roman" panose="02020603050405020304" pitchFamily="18" charset="0"/>
                <a:cs typeface="Times New Roman" panose="02020603050405020304" pitchFamily="18" charset="0"/>
              </a:rPr>
              <a:t> </a:t>
            </a:r>
            <a:r>
              <a:rPr lang="en-US" sz="2800" b="1" dirty="0">
                <a:latin typeface="Times New Roman" panose="02020603050405020304" pitchFamily="18" charset="0"/>
                <a:cs typeface="Times New Roman" panose="02020603050405020304" pitchFamily="18" charset="0"/>
              </a:rPr>
              <a:t>cohort 05</a:t>
            </a:r>
          </a:p>
        </p:txBody>
      </p:sp>
      <p:sp>
        <p:nvSpPr>
          <p:cNvPr id="11" name="Rectangle 10">
            <a:extLst>
              <a:ext uri="{FF2B5EF4-FFF2-40B4-BE49-F238E27FC236}">
                <a16:creationId xmlns:a16="http://schemas.microsoft.com/office/drawing/2014/main" id="{4F3D5B34-9352-9B48-DC33-8789352582F8}"/>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p:nvPr/>
        </p:nvSpPr>
        <p:spPr>
          <a:xfrm>
            <a:off x="793790" y="1023342"/>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Introduction</a:t>
            </a:r>
            <a:endParaRPr lang="en-US" sz="4450" dirty="0"/>
          </a:p>
        </p:txBody>
      </p:sp>
      <p:sp>
        <p:nvSpPr>
          <p:cNvPr id="8" name="TextBox 7">
            <a:extLst>
              <a:ext uri="{FF2B5EF4-FFF2-40B4-BE49-F238E27FC236}">
                <a16:creationId xmlns:a16="http://schemas.microsoft.com/office/drawing/2014/main" id="{A3E2AC6E-4FF4-0221-4497-32CC9F58E23C}"/>
              </a:ext>
            </a:extLst>
          </p:cNvPr>
          <p:cNvSpPr txBox="1"/>
          <p:nvPr/>
        </p:nvSpPr>
        <p:spPr>
          <a:xfrm>
            <a:off x="793789" y="2566555"/>
            <a:ext cx="13005337" cy="3354765"/>
          </a:xfrm>
          <a:prstGeom prst="rect">
            <a:avLst/>
          </a:prstGeom>
          <a:noFill/>
        </p:spPr>
        <p:txBody>
          <a:bodyPr wrap="square" rtlCol="0">
            <a:spAutoFit/>
          </a:bodyPr>
          <a:lstStyle/>
          <a:p>
            <a:pPr algn="just">
              <a:lnSpc>
                <a:spcPct val="150000"/>
              </a:lnSpc>
            </a:pPr>
            <a:r>
              <a:rPr lang="en-US" sz="2400" dirty="0">
                <a:latin typeface="Roboto" panose="02000000000000000000" pitchFamily="2" charset="0"/>
                <a:ea typeface="Roboto" panose="02000000000000000000" pitchFamily="2" charset="0"/>
                <a:cs typeface="Roboto" panose="02000000000000000000" pitchFamily="2" charset="0"/>
              </a:rPr>
              <a:t>Access to clean and safe water is essential for public health, environmental sustainability, and overall community development. With growing urbanization and population, maintaining water quality and infrastructure has become increasingly challenging. Technology can play a significant role in enabling better monitoring and communication between citizens and authorities. This project explores the use of a web-based system to improve transparency and community participation in water management.</a:t>
            </a:r>
            <a:endParaRPr lang="en-IN" sz="2400" dirty="0">
              <a:latin typeface="Roboto" panose="02000000000000000000" pitchFamily="2" charset="0"/>
              <a:ea typeface="Roboto" panose="02000000000000000000" pitchFamily="2" charset="0"/>
              <a:cs typeface="Roboto" panose="02000000000000000000" pitchFamily="2" charset="0"/>
            </a:endParaRPr>
          </a:p>
        </p:txBody>
      </p:sp>
      <p:sp>
        <p:nvSpPr>
          <p:cNvPr id="9" name="Rectangle 8">
            <a:extLst>
              <a:ext uri="{FF2B5EF4-FFF2-40B4-BE49-F238E27FC236}">
                <a16:creationId xmlns:a16="http://schemas.microsoft.com/office/drawing/2014/main" id="{1DC6A63B-4DA4-B0DC-EBF0-0066DAE0F311}"/>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3" name="Text 0"/>
          <p:cNvSpPr/>
          <p:nvPr/>
        </p:nvSpPr>
        <p:spPr>
          <a:xfrm>
            <a:off x="793790" y="767239"/>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Problem Statement</a:t>
            </a:r>
            <a:endParaRPr lang="en-US" sz="4450" dirty="0"/>
          </a:p>
        </p:txBody>
      </p:sp>
      <p:sp>
        <p:nvSpPr>
          <p:cNvPr id="16" name="TextBox 15">
            <a:extLst>
              <a:ext uri="{FF2B5EF4-FFF2-40B4-BE49-F238E27FC236}">
                <a16:creationId xmlns:a16="http://schemas.microsoft.com/office/drawing/2014/main" id="{DC038BE0-C95B-F804-DCDB-33BFD7F2CF4B}"/>
              </a:ext>
            </a:extLst>
          </p:cNvPr>
          <p:cNvSpPr txBox="1"/>
          <p:nvPr/>
        </p:nvSpPr>
        <p:spPr>
          <a:xfrm>
            <a:off x="793791" y="2057400"/>
            <a:ext cx="13057292" cy="3354765"/>
          </a:xfrm>
          <a:prstGeom prst="rect">
            <a:avLst/>
          </a:prstGeom>
          <a:noFill/>
        </p:spPr>
        <p:txBody>
          <a:bodyPr wrap="square" rtlCol="0">
            <a:spAutoFit/>
          </a:bodyPr>
          <a:lstStyle/>
          <a:p>
            <a:pPr algn="just">
              <a:lnSpc>
                <a:spcPct val="150000"/>
              </a:lnSpc>
            </a:pPr>
            <a:r>
              <a:rPr lang="en-US" sz="2400" dirty="0">
                <a:latin typeface="Roboto" panose="02000000000000000000" pitchFamily="2" charset="0"/>
                <a:ea typeface="Roboto" panose="02000000000000000000" pitchFamily="2" charset="0"/>
                <a:cs typeface="Roboto" panose="02000000000000000000" pitchFamily="2" charset="0"/>
              </a:rPr>
              <a:t>Despite the importance of water quality management, there is no centralized platform that allows structured reporting and transparent tracking of water-related issues. Existing complaint systems lack verification mechanisms, real-time updates, and public visibility, leading to delayed resolution and reduced accountability. The absence of a reliable monitoring system creates gaps in communication between citizens and authorities, highlighting the need for a validated and transparent reporting platform.</a:t>
            </a:r>
          </a:p>
        </p:txBody>
      </p:sp>
      <p:sp>
        <p:nvSpPr>
          <p:cNvPr id="17" name="Rectangle 16">
            <a:extLst>
              <a:ext uri="{FF2B5EF4-FFF2-40B4-BE49-F238E27FC236}">
                <a16:creationId xmlns:a16="http://schemas.microsoft.com/office/drawing/2014/main" id="{6A31CB56-2D05-AA49-57C9-56DE438FB7EF}"/>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542D3C-F525-D008-4C73-3A030BE1F218}"/>
            </a:ext>
          </a:extLst>
        </p:cNvPr>
        <p:cNvGrpSpPr/>
        <p:nvPr/>
      </p:nvGrpSpPr>
      <p:grpSpPr>
        <a:xfrm>
          <a:off x="0" y="0"/>
          <a:ext cx="0" cy="0"/>
          <a:chOff x="0" y="0"/>
          <a:chExt cx="0" cy="0"/>
        </a:xfrm>
      </p:grpSpPr>
      <p:sp>
        <p:nvSpPr>
          <p:cNvPr id="3" name="Text 0">
            <a:extLst>
              <a:ext uri="{FF2B5EF4-FFF2-40B4-BE49-F238E27FC236}">
                <a16:creationId xmlns:a16="http://schemas.microsoft.com/office/drawing/2014/main" id="{AA826306-2956-8047-AFFB-137E20377E87}"/>
              </a:ext>
            </a:extLst>
          </p:cNvPr>
          <p:cNvSpPr/>
          <p:nvPr/>
        </p:nvSpPr>
        <p:spPr>
          <a:xfrm>
            <a:off x="793789" y="767239"/>
            <a:ext cx="10490737"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Sustainable Development Goal (SGD) - 6</a:t>
            </a:r>
            <a:endParaRPr lang="en-US" sz="4450" dirty="0"/>
          </a:p>
        </p:txBody>
      </p:sp>
      <p:sp>
        <p:nvSpPr>
          <p:cNvPr id="16" name="TextBox 15">
            <a:extLst>
              <a:ext uri="{FF2B5EF4-FFF2-40B4-BE49-F238E27FC236}">
                <a16:creationId xmlns:a16="http://schemas.microsoft.com/office/drawing/2014/main" id="{EC1EFF25-61E6-1273-5DF8-8719FC7A01D0}"/>
              </a:ext>
            </a:extLst>
          </p:cNvPr>
          <p:cNvSpPr txBox="1"/>
          <p:nvPr/>
        </p:nvSpPr>
        <p:spPr>
          <a:xfrm>
            <a:off x="793790" y="2057400"/>
            <a:ext cx="13145495" cy="523220"/>
          </a:xfrm>
          <a:prstGeom prst="rect">
            <a:avLst/>
          </a:prstGeom>
          <a:noFill/>
        </p:spPr>
        <p:txBody>
          <a:bodyPr wrap="square" rtlCol="0">
            <a:spAutoFit/>
          </a:bodyPr>
          <a:lstStyle/>
          <a:p>
            <a:pPr algn="just"/>
            <a:r>
              <a:rPr lang="en-US" sz="2800" dirty="0">
                <a:latin typeface="Roboto" panose="02000000000000000000" pitchFamily="2" charset="0"/>
                <a:ea typeface="Roboto" panose="02000000000000000000" pitchFamily="2" charset="0"/>
                <a:cs typeface="Roboto" panose="02000000000000000000" pitchFamily="2" charset="0"/>
              </a:rPr>
              <a:t>Clean Water and Sanitation:</a:t>
            </a:r>
          </a:p>
        </p:txBody>
      </p:sp>
      <p:sp>
        <p:nvSpPr>
          <p:cNvPr id="2" name="TextBox 7">
            <a:extLst>
              <a:ext uri="{FF2B5EF4-FFF2-40B4-BE49-F238E27FC236}">
                <a16:creationId xmlns:a16="http://schemas.microsoft.com/office/drawing/2014/main" id="{B52430C4-8C1F-25E7-ECE9-232B96BC8277}"/>
              </a:ext>
            </a:extLst>
          </p:cNvPr>
          <p:cNvSpPr txBox="1"/>
          <p:nvPr/>
        </p:nvSpPr>
        <p:spPr>
          <a:xfrm>
            <a:off x="1219200" y="2550512"/>
            <a:ext cx="6096000" cy="169277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sz="2400" b="1" dirty="0">
                <a:latin typeface="Roboto" panose="02000000000000000000" pitchFamily="2" charset="0"/>
                <a:ea typeface="Roboto" panose="02000000000000000000" pitchFamily="2" charset="0"/>
                <a:cs typeface="Roboto" panose="02000000000000000000" pitchFamily="2" charset="0"/>
              </a:rPr>
              <a:t>Objectives of SDG 6</a:t>
            </a:r>
          </a:p>
          <a:p>
            <a:pPr>
              <a:buNone/>
            </a:pPr>
            <a:r>
              <a:rPr lang="en-US" sz="2000" dirty="0">
                <a:latin typeface="Roboto" panose="02000000000000000000" pitchFamily="2" charset="0"/>
                <a:ea typeface="Roboto" panose="02000000000000000000" pitchFamily="2" charset="0"/>
                <a:cs typeface="Roboto" panose="02000000000000000000" pitchFamily="2" charset="0"/>
              </a:rPr>
              <a:t>• Safe drinking water for every community</a:t>
            </a:r>
            <a:br>
              <a:rPr lang="en-US" sz="2000"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 Proper sanitation and hygiene access</a:t>
            </a:r>
            <a:br>
              <a:rPr lang="en-US" sz="2000"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 Reduced pollution and waste discharge</a:t>
            </a:r>
            <a:br>
              <a:rPr lang="en-US" sz="2000"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 Sustainable groundwater and surface water use</a:t>
            </a:r>
          </a:p>
        </p:txBody>
      </p:sp>
      <p:sp>
        <p:nvSpPr>
          <p:cNvPr id="4" name="TextBox 7">
            <a:extLst>
              <a:ext uri="{FF2B5EF4-FFF2-40B4-BE49-F238E27FC236}">
                <a16:creationId xmlns:a16="http://schemas.microsoft.com/office/drawing/2014/main" id="{B52430C4-8C1F-25E7-ECE9-232B96BC8277}"/>
              </a:ext>
            </a:extLst>
          </p:cNvPr>
          <p:cNvSpPr txBox="1"/>
          <p:nvPr/>
        </p:nvSpPr>
        <p:spPr>
          <a:xfrm>
            <a:off x="1219200" y="4608842"/>
            <a:ext cx="6096000" cy="1692771"/>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buNone/>
            </a:pPr>
            <a:r>
              <a:rPr lang="en-US" sz="2400" b="1" dirty="0">
                <a:latin typeface="Roboto" panose="02000000000000000000" pitchFamily="2" charset="0"/>
                <a:ea typeface="Roboto" panose="02000000000000000000" pitchFamily="2" charset="0"/>
                <a:cs typeface="Roboto" panose="02000000000000000000" pitchFamily="2" charset="0"/>
              </a:rPr>
              <a:t>Objectives of SDG 6</a:t>
            </a:r>
          </a:p>
          <a:p>
            <a:pPr>
              <a:buNone/>
            </a:pPr>
            <a:r>
              <a:rPr lang="en-US" sz="2000" dirty="0">
                <a:latin typeface="Roboto" panose="02000000000000000000" pitchFamily="2" charset="0"/>
                <a:ea typeface="Roboto" panose="02000000000000000000" pitchFamily="2" charset="0"/>
                <a:cs typeface="Roboto" panose="02000000000000000000" pitchFamily="2" charset="0"/>
              </a:rPr>
              <a:t>• Safe drinking water for every community</a:t>
            </a:r>
            <a:br>
              <a:rPr lang="en-US" sz="2000"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 Proper sanitation and hygiene access</a:t>
            </a:r>
            <a:br>
              <a:rPr lang="en-US" sz="2000"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 Reduced pollution and waste discharge</a:t>
            </a:r>
            <a:br>
              <a:rPr lang="en-US" sz="2000" dirty="0">
                <a:latin typeface="Roboto" panose="02000000000000000000" pitchFamily="2" charset="0"/>
                <a:ea typeface="Roboto" panose="02000000000000000000" pitchFamily="2" charset="0"/>
                <a:cs typeface="Roboto" panose="02000000000000000000" pitchFamily="2" charset="0"/>
              </a:rPr>
            </a:br>
            <a:r>
              <a:rPr lang="en-US" sz="2000" dirty="0">
                <a:latin typeface="Roboto" panose="02000000000000000000" pitchFamily="2" charset="0"/>
                <a:ea typeface="Roboto" panose="02000000000000000000" pitchFamily="2" charset="0"/>
                <a:cs typeface="Roboto" panose="02000000000000000000" pitchFamily="2" charset="0"/>
              </a:rPr>
              <a:t>• Sustainable groundwater and surface water use</a:t>
            </a:r>
          </a:p>
        </p:txBody>
      </p:sp>
      <p:sp>
        <p:nvSpPr>
          <p:cNvPr id="5" name="Rectangle 4">
            <a:extLst>
              <a:ext uri="{FF2B5EF4-FFF2-40B4-BE49-F238E27FC236}">
                <a16:creationId xmlns:a16="http://schemas.microsoft.com/office/drawing/2014/main" id="{F9BA6C1A-BBA7-114E-0312-4F877223BF20}"/>
              </a:ext>
            </a:extLst>
          </p:cNvPr>
          <p:cNvSpPr/>
          <p:nvPr/>
        </p:nvSpPr>
        <p:spPr>
          <a:xfrm>
            <a:off x="12656128" y="7481455"/>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127829196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p:nvPr/>
        </p:nvSpPr>
        <p:spPr>
          <a:xfrm>
            <a:off x="793790" y="1573054"/>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Proposed Solution</a:t>
            </a:r>
            <a:endParaRPr lang="en-US" sz="4450" dirty="0"/>
          </a:p>
        </p:txBody>
      </p:sp>
      <p:sp>
        <p:nvSpPr>
          <p:cNvPr id="3" name="Text 1"/>
          <p:cNvSpPr/>
          <p:nvPr/>
        </p:nvSpPr>
        <p:spPr>
          <a:xfrm>
            <a:off x="835354" y="2636222"/>
            <a:ext cx="13472928" cy="725805"/>
          </a:xfrm>
          <a:prstGeom prst="rect">
            <a:avLst/>
          </a:prstGeom>
          <a:noFill/>
          <a:ln/>
        </p:spPr>
        <p:txBody>
          <a:bodyPr wrap="square" lIns="0" tIns="0" rIns="0" bIns="0" rtlCol="0" anchor="t"/>
          <a:lstStyle/>
          <a:p>
            <a:pPr>
              <a:lnSpc>
                <a:spcPts val="2850"/>
              </a:lnSpc>
            </a:pPr>
            <a:r>
              <a:rPr lang="en-US" sz="2000" dirty="0">
                <a:latin typeface="Roboto" panose="02000000000000000000" pitchFamily="2" charset="0"/>
                <a:ea typeface="Roboto" panose="02000000000000000000" pitchFamily="2" charset="0"/>
                <a:cs typeface="Roboto" panose="02000000000000000000" pitchFamily="2" charset="0"/>
              </a:rPr>
              <a:t>The proposed system introduces a community-driven approach to monitor water quality and infrastructure issues. Through validation, real-time tracking, and authority notification, </a:t>
            </a:r>
            <a:r>
              <a:rPr lang="en-US" sz="2000" dirty="0" err="1">
                <a:latin typeface="Roboto" panose="02000000000000000000" pitchFamily="2" charset="0"/>
                <a:ea typeface="Roboto" panose="02000000000000000000" pitchFamily="2" charset="0"/>
                <a:cs typeface="Roboto" panose="02000000000000000000" pitchFamily="2" charset="0"/>
              </a:rPr>
              <a:t>AquaGuard</a:t>
            </a:r>
            <a:r>
              <a:rPr lang="en-US" sz="2000" dirty="0">
                <a:latin typeface="Roboto" panose="02000000000000000000" pitchFamily="2" charset="0"/>
                <a:ea typeface="Roboto" panose="02000000000000000000" pitchFamily="2" charset="0"/>
                <a:cs typeface="Roboto" panose="02000000000000000000" pitchFamily="2" charset="0"/>
              </a:rPr>
              <a:t> enhances transparency and accountability.</a:t>
            </a:r>
          </a:p>
        </p:txBody>
      </p:sp>
      <p:sp>
        <p:nvSpPr>
          <p:cNvPr id="4" name="Shape 2"/>
          <p:cNvSpPr/>
          <p:nvPr/>
        </p:nvSpPr>
        <p:spPr>
          <a:xfrm>
            <a:off x="793790" y="3716416"/>
            <a:ext cx="4196358" cy="3567611"/>
          </a:xfrm>
          <a:prstGeom prst="roundRect">
            <a:avLst>
              <a:gd name="adj" fmla="val 1157"/>
            </a:avLst>
          </a:prstGeom>
          <a:solidFill>
            <a:srgbClr val="E9ECF2"/>
          </a:solidFill>
          <a:ln/>
        </p:spPr>
      </p:sp>
      <p:sp>
        <p:nvSpPr>
          <p:cNvPr id="7" name="Text 3"/>
          <p:cNvSpPr/>
          <p:nvPr/>
        </p:nvSpPr>
        <p:spPr>
          <a:xfrm>
            <a:off x="924223" y="39971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Innovation</a:t>
            </a:r>
            <a:endParaRPr lang="en-US" sz="2200" dirty="0"/>
          </a:p>
        </p:txBody>
      </p:sp>
      <p:sp>
        <p:nvSpPr>
          <p:cNvPr id="8" name="Text 4"/>
          <p:cNvSpPr/>
          <p:nvPr/>
        </p:nvSpPr>
        <p:spPr>
          <a:xfrm>
            <a:off x="1020604" y="4561283"/>
            <a:ext cx="3742730" cy="2449591"/>
          </a:xfrm>
          <a:prstGeom prst="rect">
            <a:avLst/>
          </a:prstGeom>
          <a:noFill/>
          <a:ln/>
        </p:spPr>
        <p:txBody>
          <a:bodyPr wrap="square" lIns="0" tIns="0" rIns="0" bIns="0" rtlCol="0" anchor="t"/>
          <a:lstStyle/>
          <a:p>
            <a:pPr algn="just">
              <a:lnSpc>
                <a:spcPct val="150000"/>
              </a:lnSpc>
            </a:pPr>
            <a:r>
              <a:rPr lang="en-US" sz="1600" dirty="0" err="1">
                <a:latin typeface="Roboto" panose="02000000000000000000" pitchFamily="2" charset="0"/>
                <a:ea typeface="Roboto" panose="02000000000000000000" pitchFamily="2" charset="0"/>
                <a:cs typeface="Roboto" panose="02000000000000000000" pitchFamily="2" charset="0"/>
              </a:rPr>
              <a:t>AquaGuard</a:t>
            </a:r>
            <a:r>
              <a:rPr lang="en-US" sz="1600" dirty="0">
                <a:latin typeface="Roboto" panose="02000000000000000000" pitchFamily="2" charset="0"/>
                <a:ea typeface="Roboto" panose="02000000000000000000" pitchFamily="2" charset="0"/>
                <a:cs typeface="Roboto" panose="02000000000000000000" pitchFamily="2" charset="0"/>
              </a:rPr>
              <a:t> introduces a community-driven water monitoring platform with moderator validation to ensure reliable reporting. It combines public transparency, real-time tracking, and severity-based authority notifications to improve accountability.</a:t>
            </a:r>
            <a:endParaRPr lang="en-US" sz="1750" dirty="0">
              <a:latin typeface="Roboto" panose="02000000000000000000" pitchFamily="2" charset="0"/>
              <a:ea typeface="Roboto" panose="02000000000000000000" pitchFamily="2" charset="0"/>
              <a:cs typeface="Roboto" panose="02000000000000000000" pitchFamily="2" charset="0"/>
            </a:endParaRPr>
          </a:p>
        </p:txBody>
      </p:sp>
      <p:sp>
        <p:nvSpPr>
          <p:cNvPr id="9" name="Shape 5"/>
          <p:cNvSpPr/>
          <p:nvPr/>
        </p:nvSpPr>
        <p:spPr>
          <a:xfrm>
            <a:off x="5216962" y="3716417"/>
            <a:ext cx="4196358" cy="3567610"/>
          </a:xfrm>
          <a:prstGeom prst="roundRect">
            <a:avLst>
              <a:gd name="adj" fmla="val 1157"/>
            </a:avLst>
          </a:prstGeom>
          <a:solidFill>
            <a:srgbClr val="E9ECF2"/>
          </a:solidFill>
          <a:ln/>
        </p:spPr>
      </p:sp>
      <p:sp>
        <p:nvSpPr>
          <p:cNvPr id="12" name="Text 6"/>
          <p:cNvSpPr/>
          <p:nvPr/>
        </p:nvSpPr>
        <p:spPr>
          <a:xfrm>
            <a:off x="5443775" y="3997166"/>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Approach</a:t>
            </a:r>
            <a:endParaRPr lang="en-US" sz="2200" dirty="0"/>
          </a:p>
        </p:txBody>
      </p:sp>
      <p:sp>
        <p:nvSpPr>
          <p:cNvPr id="13" name="Text 7"/>
          <p:cNvSpPr/>
          <p:nvPr/>
        </p:nvSpPr>
        <p:spPr>
          <a:xfrm>
            <a:off x="5443775" y="4705886"/>
            <a:ext cx="3742730" cy="1559832"/>
          </a:xfrm>
          <a:prstGeom prst="rect">
            <a:avLst/>
          </a:prstGeom>
          <a:noFill/>
          <a:ln/>
        </p:spPr>
        <p:txBody>
          <a:bodyPr wrap="square" lIns="0" tIns="0" rIns="0" bIns="0" rtlCol="0" anchor="t"/>
          <a:lstStyle/>
          <a:p>
            <a:pPr algn="just">
              <a:lnSpc>
                <a:spcPct val="150000"/>
              </a:lnSpc>
            </a:pPr>
            <a:r>
              <a:rPr lang="en-US" sz="1600" dirty="0">
                <a:latin typeface="Roboto" panose="02000000000000000000" pitchFamily="2" charset="0"/>
                <a:ea typeface="Roboto" panose="02000000000000000000" pitchFamily="2" charset="0"/>
                <a:cs typeface="Roboto" panose="02000000000000000000" pitchFamily="2" charset="0"/>
              </a:rPr>
              <a:t>Users submit water-related issues with location details and evidence. Reports are reviewed by moderators before being published on the dashboard, and critical cases are forwarded to authorities for action.</a:t>
            </a:r>
          </a:p>
        </p:txBody>
      </p:sp>
      <p:sp>
        <p:nvSpPr>
          <p:cNvPr id="14" name="Shape 8"/>
          <p:cNvSpPr/>
          <p:nvPr/>
        </p:nvSpPr>
        <p:spPr>
          <a:xfrm>
            <a:off x="9640133" y="3716416"/>
            <a:ext cx="4196358" cy="3567609"/>
          </a:xfrm>
          <a:prstGeom prst="roundRect">
            <a:avLst>
              <a:gd name="adj" fmla="val 1157"/>
            </a:avLst>
          </a:prstGeom>
          <a:solidFill>
            <a:srgbClr val="E9ECF2"/>
          </a:solidFill>
          <a:ln/>
        </p:spPr>
      </p:sp>
      <p:sp>
        <p:nvSpPr>
          <p:cNvPr id="17" name="Text 9"/>
          <p:cNvSpPr/>
          <p:nvPr/>
        </p:nvSpPr>
        <p:spPr>
          <a:xfrm>
            <a:off x="9866948" y="4037729"/>
            <a:ext cx="2835235" cy="354330"/>
          </a:xfrm>
          <a:prstGeom prst="rect">
            <a:avLst/>
          </a:prstGeom>
          <a:noFill/>
          <a:ln/>
        </p:spPr>
        <p:txBody>
          <a:bodyPr wrap="none" lIns="0" tIns="0" rIns="0" bIns="0" rtlCol="0" anchor="t"/>
          <a:lstStyle/>
          <a:p>
            <a:pPr marL="0" indent="0" algn="l">
              <a:lnSpc>
                <a:spcPts val="2750"/>
              </a:lnSpc>
              <a:buNone/>
            </a:pPr>
            <a:r>
              <a:rPr lang="en-US" sz="2200" dirty="0">
                <a:solidFill>
                  <a:srgbClr val="15213F"/>
                </a:solidFill>
                <a:latin typeface="Roboto Slab" pitchFamily="34" charset="0"/>
                <a:ea typeface="Roboto Slab" pitchFamily="34" charset="-122"/>
                <a:cs typeface="Roboto Slab" pitchFamily="34" charset="-120"/>
              </a:rPr>
              <a:t>Advantages</a:t>
            </a:r>
            <a:endParaRPr lang="en-US" sz="2200" dirty="0"/>
          </a:p>
        </p:txBody>
      </p:sp>
      <p:sp>
        <p:nvSpPr>
          <p:cNvPr id="18" name="Text 10"/>
          <p:cNvSpPr/>
          <p:nvPr/>
        </p:nvSpPr>
        <p:spPr>
          <a:xfrm>
            <a:off x="9866948" y="5340906"/>
            <a:ext cx="3742730" cy="1088708"/>
          </a:xfrm>
          <a:prstGeom prst="rect">
            <a:avLst/>
          </a:prstGeom>
          <a:noFill/>
          <a:ln/>
        </p:spPr>
        <p:txBody>
          <a:bodyPr wrap="square" lIns="0" tIns="0" rIns="0" bIns="0" rtlCol="0" anchor="t"/>
          <a:lstStyle/>
          <a:p>
            <a:pPr marL="0" indent="0" algn="l">
              <a:lnSpc>
                <a:spcPts val="2850"/>
              </a:lnSpc>
              <a:buNone/>
            </a:pPr>
            <a:endParaRPr lang="en-US" sz="1750" dirty="0"/>
          </a:p>
        </p:txBody>
      </p:sp>
      <p:sp>
        <p:nvSpPr>
          <p:cNvPr id="19" name="Rectangle 18">
            <a:extLst>
              <a:ext uri="{FF2B5EF4-FFF2-40B4-BE49-F238E27FC236}">
                <a16:creationId xmlns:a16="http://schemas.microsoft.com/office/drawing/2014/main" id="{18BD24BF-FAF9-BFD2-4339-842155A43CDB}"/>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3" name="TextBox 22">
            <a:extLst>
              <a:ext uri="{FF2B5EF4-FFF2-40B4-BE49-F238E27FC236}">
                <a16:creationId xmlns:a16="http://schemas.microsoft.com/office/drawing/2014/main" id="{A6ADAD5B-A7EC-B4E4-D192-4C65ECA1CE17}"/>
              </a:ext>
            </a:extLst>
          </p:cNvPr>
          <p:cNvSpPr txBox="1"/>
          <p:nvPr/>
        </p:nvSpPr>
        <p:spPr>
          <a:xfrm>
            <a:off x="9866948" y="4705886"/>
            <a:ext cx="3890616" cy="2126864"/>
          </a:xfrm>
          <a:prstGeom prst="rect">
            <a:avLst/>
          </a:prstGeom>
          <a:noFill/>
        </p:spPr>
        <p:txBody>
          <a:bodyPr wrap="square" rtlCol="0">
            <a:spAutoFit/>
          </a:bodyPr>
          <a:lstStyle/>
          <a:p>
            <a:pPr marL="285750" indent="-285750">
              <a:lnSpc>
                <a:spcPct val="150000"/>
              </a:lnSpc>
              <a:buFont typeface="Arial" panose="020B0604020202020204" pitchFamily="34" charset="0"/>
              <a:buChar char="•"/>
            </a:pPr>
            <a:r>
              <a:rPr lang="en-IN" dirty="0">
                <a:latin typeface="Roboto" panose="02000000000000000000" pitchFamily="2" charset="0"/>
                <a:ea typeface="Roboto" panose="02000000000000000000" pitchFamily="2" charset="0"/>
                <a:cs typeface="Roboto" panose="02000000000000000000" pitchFamily="2" charset="0"/>
              </a:rPr>
              <a:t>Verified and authentic reporting</a:t>
            </a:r>
          </a:p>
          <a:p>
            <a:pPr marL="285750" indent="-285750">
              <a:lnSpc>
                <a:spcPct val="150000"/>
              </a:lnSpc>
              <a:buFont typeface="Arial" panose="020B0604020202020204" pitchFamily="34" charset="0"/>
              <a:buChar char="•"/>
            </a:pPr>
            <a:r>
              <a:rPr lang="en-IN" dirty="0">
                <a:latin typeface="Roboto" panose="02000000000000000000" pitchFamily="2" charset="0"/>
                <a:ea typeface="Roboto" panose="02000000000000000000" pitchFamily="2" charset="0"/>
                <a:cs typeface="Roboto" panose="02000000000000000000" pitchFamily="2" charset="0"/>
              </a:rPr>
              <a:t>Faster authority response</a:t>
            </a:r>
          </a:p>
          <a:p>
            <a:pPr marL="285750" indent="-285750">
              <a:lnSpc>
                <a:spcPct val="150000"/>
              </a:lnSpc>
              <a:buFont typeface="Arial" panose="020B0604020202020204" pitchFamily="34" charset="0"/>
              <a:buChar char="•"/>
            </a:pPr>
            <a:r>
              <a:rPr lang="en-IN" dirty="0">
                <a:latin typeface="Roboto" panose="02000000000000000000" pitchFamily="2" charset="0"/>
                <a:ea typeface="Roboto" panose="02000000000000000000" pitchFamily="2" charset="0"/>
                <a:cs typeface="Roboto" panose="02000000000000000000" pitchFamily="2" charset="0"/>
              </a:rPr>
              <a:t>Real-time issue tracking</a:t>
            </a:r>
          </a:p>
          <a:p>
            <a:pPr marL="285750" indent="-285750">
              <a:lnSpc>
                <a:spcPct val="150000"/>
              </a:lnSpc>
              <a:buFont typeface="Arial" panose="020B0604020202020204" pitchFamily="34" charset="0"/>
              <a:buChar char="•"/>
            </a:pPr>
            <a:r>
              <a:rPr lang="en-IN" dirty="0">
                <a:latin typeface="Roboto" panose="02000000000000000000" pitchFamily="2" charset="0"/>
                <a:ea typeface="Roboto" panose="02000000000000000000" pitchFamily="2" charset="0"/>
                <a:cs typeface="Roboto" panose="02000000000000000000" pitchFamily="2" charset="0"/>
              </a:rPr>
              <a:t>Improved transparency and accountability</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793790" y="1376958"/>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3257B8"/>
                </a:solidFill>
                <a:latin typeface="Roboto Slab" pitchFamily="34" charset="0"/>
                <a:ea typeface="Roboto Slab" pitchFamily="34" charset="-122"/>
                <a:cs typeface="Roboto Slab" pitchFamily="34" charset="-120"/>
              </a:rPr>
              <a:t>Objectives</a:t>
            </a:r>
            <a:endParaRPr lang="en-US" sz="4450" dirty="0"/>
          </a:p>
        </p:txBody>
      </p:sp>
      <p:sp>
        <p:nvSpPr>
          <p:cNvPr id="4" name="Text 2"/>
          <p:cNvSpPr/>
          <p:nvPr/>
        </p:nvSpPr>
        <p:spPr>
          <a:xfrm>
            <a:off x="793790" y="24181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01</a:t>
            </a:r>
            <a:endParaRPr lang="en-US" sz="1750" dirty="0"/>
          </a:p>
        </p:txBody>
      </p:sp>
      <p:pic>
        <p:nvPicPr>
          <p:cNvPr id="5" name="Image 0" descr="preencoded.png"/>
          <p:cNvPicPr>
            <a:picLocks noChangeAspect="1"/>
          </p:cNvPicPr>
          <p:nvPr/>
        </p:nvPicPr>
        <p:blipFill>
          <a:blip r:embed="rId3"/>
          <a:stretch>
            <a:fillRect/>
          </a:stretch>
        </p:blipFill>
        <p:spPr>
          <a:xfrm>
            <a:off x="793790" y="3512463"/>
            <a:ext cx="6407944" cy="30480"/>
          </a:xfrm>
          <a:prstGeom prst="rect">
            <a:avLst/>
          </a:prstGeom>
        </p:spPr>
      </p:pic>
      <p:sp>
        <p:nvSpPr>
          <p:cNvPr id="6" name="Text 3"/>
          <p:cNvSpPr/>
          <p:nvPr/>
        </p:nvSpPr>
        <p:spPr>
          <a:xfrm>
            <a:off x="793790" y="2792757"/>
            <a:ext cx="3653519" cy="354330"/>
          </a:xfrm>
          <a:prstGeom prst="rect">
            <a:avLst/>
          </a:prstGeom>
          <a:noFill/>
          <a:ln/>
        </p:spPr>
        <p:txBody>
          <a:bodyPr wrap="none" lIns="0" tIns="0" rIns="0" bIns="0" rtlCol="0" anchor="t"/>
          <a:lstStyle/>
          <a:p>
            <a:pPr>
              <a:lnSpc>
                <a:spcPts val="2750"/>
              </a:lnSpc>
            </a:pPr>
            <a:r>
              <a:rPr lang="en-IN" sz="2400" b="1" dirty="0"/>
              <a:t>Community-Based Reporting</a:t>
            </a:r>
            <a:endParaRPr lang="en-US" sz="2200" b="1" dirty="0"/>
          </a:p>
        </p:txBody>
      </p:sp>
      <p:sp>
        <p:nvSpPr>
          <p:cNvPr id="7" name="Text 4"/>
          <p:cNvSpPr/>
          <p:nvPr/>
        </p:nvSpPr>
        <p:spPr>
          <a:xfrm>
            <a:off x="793789" y="3358515"/>
            <a:ext cx="6407944" cy="1122640"/>
          </a:xfrm>
          <a:prstGeom prst="rect">
            <a:avLst/>
          </a:prstGeom>
          <a:noFill/>
          <a:ln/>
        </p:spPr>
        <p:txBody>
          <a:bodyPr wrap="square" lIns="0" tIns="0" rIns="0" bIns="0" rtlCol="0" anchor="t"/>
          <a:lstStyle/>
          <a:p>
            <a:pPr algn="just"/>
            <a:r>
              <a:rPr lang="en-US" dirty="0"/>
              <a:t>To create a platform that enables citizens to report water quality and infrastructure issues easily with proper location details and supporting evidence.</a:t>
            </a:r>
          </a:p>
        </p:txBody>
      </p:sp>
      <p:sp>
        <p:nvSpPr>
          <p:cNvPr id="8" name="Text 5"/>
          <p:cNvSpPr/>
          <p:nvPr/>
        </p:nvSpPr>
        <p:spPr>
          <a:xfrm>
            <a:off x="7323746" y="2418160"/>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02</a:t>
            </a:r>
            <a:endParaRPr lang="en-US" sz="1750" dirty="0"/>
          </a:p>
        </p:txBody>
      </p:sp>
      <p:pic>
        <p:nvPicPr>
          <p:cNvPr id="9" name="Image 1" descr="preencoded.png"/>
          <p:cNvPicPr>
            <a:picLocks noChangeAspect="1"/>
          </p:cNvPicPr>
          <p:nvPr/>
        </p:nvPicPr>
        <p:blipFill>
          <a:blip r:embed="rId3"/>
          <a:stretch>
            <a:fillRect/>
          </a:stretch>
        </p:blipFill>
        <p:spPr>
          <a:xfrm>
            <a:off x="7428548" y="3535204"/>
            <a:ext cx="6408063" cy="30480"/>
          </a:xfrm>
          <a:prstGeom prst="rect">
            <a:avLst/>
          </a:prstGeom>
        </p:spPr>
      </p:pic>
      <p:sp>
        <p:nvSpPr>
          <p:cNvPr id="10" name="Text 6"/>
          <p:cNvSpPr/>
          <p:nvPr/>
        </p:nvSpPr>
        <p:spPr>
          <a:xfrm>
            <a:off x="7315200" y="2792757"/>
            <a:ext cx="3740727" cy="354330"/>
          </a:xfrm>
          <a:prstGeom prst="rect">
            <a:avLst/>
          </a:prstGeom>
          <a:noFill/>
          <a:ln/>
        </p:spPr>
        <p:txBody>
          <a:bodyPr wrap="none" lIns="0" tIns="0" rIns="0" bIns="0" rtlCol="0" anchor="t"/>
          <a:lstStyle/>
          <a:p>
            <a:pPr>
              <a:lnSpc>
                <a:spcPts val="2750"/>
              </a:lnSpc>
            </a:pPr>
            <a:r>
              <a:rPr lang="en-IN" sz="2400" b="1" dirty="0"/>
              <a:t>Report Validation Mechanism</a:t>
            </a:r>
            <a:endParaRPr lang="en-US" sz="2200" b="1" dirty="0"/>
          </a:p>
        </p:txBody>
      </p:sp>
      <p:sp>
        <p:nvSpPr>
          <p:cNvPr id="12" name="Text 8"/>
          <p:cNvSpPr/>
          <p:nvPr/>
        </p:nvSpPr>
        <p:spPr>
          <a:xfrm>
            <a:off x="793790" y="461724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03</a:t>
            </a:r>
            <a:endParaRPr lang="en-US" sz="1750" dirty="0"/>
          </a:p>
        </p:txBody>
      </p:sp>
      <p:pic>
        <p:nvPicPr>
          <p:cNvPr id="13" name="Image 2" descr="preencoded.png"/>
          <p:cNvPicPr>
            <a:picLocks noChangeAspect="1"/>
          </p:cNvPicPr>
          <p:nvPr/>
        </p:nvPicPr>
        <p:blipFill>
          <a:blip r:embed="rId3"/>
          <a:stretch>
            <a:fillRect/>
          </a:stretch>
        </p:blipFill>
        <p:spPr>
          <a:xfrm>
            <a:off x="793790" y="5632252"/>
            <a:ext cx="6407944" cy="30480"/>
          </a:xfrm>
          <a:prstGeom prst="rect">
            <a:avLst/>
          </a:prstGeom>
        </p:spPr>
      </p:pic>
      <p:sp>
        <p:nvSpPr>
          <p:cNvPr id="14" name="Text 9"/>
          <p:cNvSpPr/>
          <p:nvPr/>
        </p:nvSpPr>
        <p:spPr>
          <a:xfrm>
            <a:off x="769322" y="5059231"/>
            <a:ext cx="3449387" cy="354330"/>
          </a:xfrm>
          <a:prstGeom prst="rect">
            <a:avLst/>
          </a:prstGeom>
          <a:noFill/>
          <a:ln/>
        </p:spPr>
        <p:txBody>
          <a:bodyPr wrap="none" lIns="0" tIns="0" rIns="0" bIns="0" rtlCol="0" anchor="t"/>
          <a:lstStyle/>
          <a:p>
            <a:pPr>
              <a:lnSpc>
                <a:spcPts val="2750"/>
              </a:lnSpc>
            </a:pPr>
            <a:r>
              <a:rPr lang="en-IN" sz="2400" b="1" dirty="0"/>
              <a:t>Transparent Issue Tracking</a:t>
            </a:r>
            <a:endParaRPr lang="en-US" sz="2200" b="1" dirty="0"/>
          </a:p>
        </p:txBody>
      </p:sp>
      <p:sp>
        <p:nvSpPr>
          <p:cNvPr id="16" name="Text 11"/>
          <p:cNvSpPr/>
          <p:nvPr/>
        </p:nvSpPr>
        <p:spPr>
          <a:xfrm>
            <a:off x="7315141" y="4617243"/>
            <a:ext cx="226814" cy="283488"/>
          </a:xfrm>
          <a:prstGeom prst="rect">
            <a:avLst/>
          </a:prstGeom>
          <a:noFill/>
          <a:ln/>
        </p:spPr>
        <p:txBody>
          <a:bodyPr wrap="none" lIns="0" tIns="0" rIns="0" bIns="0" rtlCol="0" anchor="t"/>
          <a:lstStyle/>
          <a:p>
            <a:pPr marL="0" indent="0" algn="l">
              <a:lnSpc>
                <a:spcPts val="2850"/>
              </a:lnSpc>
              <a:buNone/>
            </a:pPr>
            <a:r>
              <a:rPr lang="en-US" sz="1750" dirty="0">
                <a:solidFill>
                  <a:srgbClr val="15213F"/>
                </a:solidFill>
                <a:latin typeface="Roboto Slab Light" pitchFamily="34" charset="0"/>
                <a:ea typeface="Roboto Slab Light" pitchFamily="34" charset="-122"/>
                <a:cs typeface="Roboto Slab Light" pitchFamily="34" charset="-120"/>
              </a:rPr>
              <a:t>04</a:t>
            </a:r>
            <a:endParaRPr lang="en-US" sz="1750" dirty="0"/>
          </a:p>
        </p:txBody>
      </p:sp>
      <p:pic>
        <p:nvPicPr>
          <p:cNvPr id="17" name="Image 3" descr="preencoded.png"/>
          <p:cNvPicPr>
            <a:picLocks noChangeAspect="1"/>
          </p:cNvPicPr>
          <p:nvPr/>
        </p:nvPicPr>
        <p:blipFill>
          <a:blip r:embed="rId3"/>
          <a:stretch>
            <a:fillRect/>
          </a:stretch>
        </p:blipFill>
        <p:spPr>
          <a:xfrm>
            <a:off x="7428548" y="5632252"/>
            <a:ext cx="6408063" cy="30480"/>
          </a:xfrm>
          <a:prstGeom prst="rect">
            <a:avLst/>
          </a:prstGeom>
        </p:spPr>
      </p:pic>
      <p:sp>
        <p:nvSpPr>
          <p:cNvPr id="18" name="Text 12"/>
          <p:cNvSpPr/>
          <p:nvPr/>
        </p:nvSpPr>
        <p:spPr>
          <a:xfrm>
            <a:off x="7312765" y="5059231"/>
            <a:ext cx="4387399" cy="354330"/>
          </a:xfrm>
          <a:prstGeom prst="rect">
            <a:avLst/>
          </a:prstGeom>
          <a:noFill/>
          <a:ln/>
        </p:spPr>
        <p:txBody>
          <a:bodyPr wrap="none" lIns="0" tIns="0" rIns="0" bIns="0" rtlCol="0" anchor="t"/>
          <a:lstStyle/>
          <a:p>
            <a:pPr>
              <a:lnSpc>
                <a:spcPts val="2750"/>
              </a:lnSpc>
            </a:pPr>
            <a:r>
              <a:rPr lang="en-IN" sz="2400" b="1" dirty="0"/>
              <a:t>Efficient Authority Communication</a:t>
            </a:r>
            <a:endParaRPr lang="en-US" sz="2200" b="1" dirty="0"/>
          </a:p>
        </p:txBody>
      </p:sp>
      <p:sp>
        <p:nvSpPr>
          <p:cNvPr id="20" name="Rectangle 19">
            <a:extLst>
              <a:ext uri="{FF2B5EF4-FFF2-40B4-BE49-F238E27FC236}">
                <a16:creationId xmlns:a16="http://schemas.microsoft.com/office/drawing/2014/main" id="{FFEEF58F-6174-6DC7-30DF-6C71DF662220}"/>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1" name="TextBox 20">
            <a:extLst>
              <a:ext uri="{FF2B5EF4-FFF2-40B4-BE49-F238E27FC236}">
                <a16:creationId xmlns:a16="http://schemas.microsoft.com/office/drawing/2014/main" id="{C871ABD7-95B2-2690-7DD2-C6156AB82F10}"/>
              </a:ext>
            </a:extLst>
          </p:cNvPr>
          <p:cNvSpPr txBox="1"/>
          <p:nvPr/>
        </p:nvSpPr>
        <p:spPr>
          <a:xfrm>
            <a:off x="7312765" y="3357687"/>
            <a:ext cx="6195417" cy="646331"/>
          </a:xfrm>
          <a:prstGeom prst="rect">
            <a:avLst/>
          </a:prstGeom>
          <a:noFill/>
        </p:spPr>
        <p:txBody>
          <a:bodyPr wrap="square" rtlCol="0">
            <a:spAutoFit/>
          </a:bodyPr>
          <a:lstStyle/>
          <a:p>
            <a:pPr algn="just"/>
            <a:r>
              <a:rPr lang="en-US" dirty="0"/>
              <a:t>To implement a moderator-based verification process that ensures authenticity and prevents fake or misleading reports.</a:t>
            </a:r>
            <a:endParaRPr lang="en-IN" dirty="0"/>
          </a:p>
        </p:txBody>
      </p:sp>
      <p:sp>
        <p:nvSpPr>
          <p:cNvPr id="22" name="TextBox 21">
            <a:extLst>
              <a:ext uri="{FF2B5EF4-FFF2-40B4-BE49-F238E27FC236}">
                <a16:creationId xmlns:a16="http://schemas.microsoft.com/office/drawing/2014/main" id="{D6B6ACDD-A949-CF0E-7DDA-E85498B8EBE7}"/>
              </a:ext>
            </a:extLst>
          </p:cNvPr>
          <p:cNvSpPr txBox="1"/>
          <p:nvPr/>
        </p:nvSpPr>
        <p:spPr>
          <a:xfrm>
            <a:off x="689881" y="5632252"/>
            <a:ext cx="6408063" cy="646331"/>
          </a:xfrm>
          <a:prstGeom prst="rect">
            <a:avLst/>
          </a:prstGeom>
          <a:noFill/>
        </p:spPr>
        <p:txBody>
          <a:bodyPr wrap="square" rtlCol="0">
            <a:spAutoFit/>
          </a:bodyPr>
          <a:lstStyle/>
          <a:p>
            <a:pPr algn="just"/>
            <a:r>
              <a:rPr lang="en-US" dirty="0"/>
              <a:t>To provide real-time tracking of issues from submission to resolution through a public dashboard for improved accountability.</a:t>
            </a:r>
            <a:endParaRPr lang="en-IN" dirty="0"/>
          </a:p>
        </p:txBody>
      </p:sp>
      <p:sp>
        <p:nvSpPr>
          <p:cNvPr id="23" name="TextBox 22">
            <a:extLst>
              <a:ext uri="{FF2B5EF4-FFF2-40B4-BE49-F238E27FC236}">
                <a16:creationId xmlns:a16="http://schemas.microsoft.com/office/drawing/2014/main" id="{A5ADF5B9-3E67-EA2E-4536-A61392A260E4}"/>
              </a:ext>
            </a:extLst>
          </p:cNvPr>
          <p:cNvSpPr txBox="1"/>
          <p:nvPr/>
        </p:nvSpPr>
        <p:spPr>
          <a:xfrm>
            <a:off x="7323747" y="5735782"/>
            <a:ext cx="6184436" cy="646331"/>
          </a:xfrm>
          <a:prstGeom prst="rect">
            <a:avLst/>
          </a:prstGeom>
          <a:noFill/>
        </p:spPr>
        <p:txBody>
          <a:bodyPr wrap="square" rtlCol="0">
            <a:spAutoFit/>
          </a:bodyPr>
          <a:lstStyle/>
          <a:p>
            <a:pPr algn="just"/>
            <a:r>
              <a:rPr lang="en-US" dirty="0"/>
              <a:t>To establish a structured system that notifies concerned authorities about critical issues and helps reduce response time.</a:t>
            </a:r>
            <a:endParaRPr lang="en-IN"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960596" y="822722"/>
            <a:ext cx="4604742" cy="575667"/>
          </a:xfrm>
          <a:prstGeom prst="rect">
            <a:avLst/>
          </a:prstGeom>
          <a:noFill/>
          <a:ln/>
        </p:spPr>
        <p:txBody>
          <a:bodyPr wrap="none" lIns="0" tIns="0" rIns="0" bIns="0" rtlCol="0" anchor="t"/>
          <a:lstStyle/>
          <a:p>
            <a:pPr marL="0" indent="0" algn="l">
              <a:lnSpc>
                <a:spcPts val="4500"/>
              </a:lnSpc>
              <a:buNone/>
            </a:pPr>
            <a:r>
              <a:rPr lang="en-US" sz="3600" dirty="0">
                <a:solidFill>
                  <a:srgbClr val="3257B8"/>
                </a:solidFill>
                <a:latin typeface="Roboto Slab" pitchFamily="34" charset="0"/>
                <a:ea typeface="Roboto Slab" pitchFamily="34" charset="-122"/>
                <a:cs typeface="Roboto Slab" pitchFamily="34" charset="-120"/>
              </a:rPr>
              <a:t>Technology Stack</a:t>
            </a:r>
            <a:endParaRPr lang="en-US" sz="3600" dirty="0"/>
          </a:p>
        </p:txBody>
      </p:sp>
      <p:pic>
        <p:nvPicPr>
          <p:cNvPr id="4"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60596" y="2132648"/>
            <a:ext cx="460415" cy="460415"/>
          </a:xfrm>
          <a:prstGeom prst="rect">
            <a:avLst/>
          </a:prstGeom>
        </p:spPr>
      </p:pic>
      <p:sp>
        <p:nvSpPr>
          <p:cNvPr id="5" name="Text 2"/>
          <p:cNvSpPr/>
          <p:nvPr/>
        </p:nvSpPr>
        <p:spPr>
          <a:xfrm>
            <a:off x="960596" y="2779990"/>
            <a:ext cx="2753797" cy="287774"/>
          </a:xfrm>
          <a:prstGeom prst="rect">
            <a:avLst/>
          </a:prstGeom>
          <a:noFill/>
          <a:ln/>
        </p:spPr>
        <p:txBody>
          <a:bodyPr wrap="none" lIns="0" tIns="0" rIns="0" bIns="0" rtlCol="0" anchor="t"/>
          <a:lstStyle/>
          <a:p>
            <a:pPr marL="0" indent="0" algn="l">
              <a:lnSpc>
                <a:spcPts val="2250"/>
              </a:lnSpc>
              <a:buNone/>
            </a:pPr>
            <a:r>
              <a:rPr lang="en-US" sz="1800" dirty="0">
                <a:latin typeface="Roboto Slab" pitchFamily="2" charset="0"/>
                <a:ea typeface="Roboto Slab" pitchFamily="2" charset="0"/>
                <a:cs typeface="Roboto Slab" pitchFamily="2" charset="0"/>
              </a:rPr>
              <a:t>Frontend</a:t>
            </a:r>
          </a:p>
        </p:txBody>
      </p:sp>
      <p:sp>
        <p:nvSpPr>
          <p:cNvPr id="6" name="Text 3"/>
          <p:cNvSpPr/>
          <p:nvPr/>
        </p:nvSpPr>
        <p:spPr>
          <a:xfrm>
            <a:off x="960596" y="3157418"/>
            <a:ext cx="6261021" cy="533876"/>
          </a:xfrm>
          <a:prstGeom prst="rect">
            <a:avLst/>
          </a:prstGeom>
          <a:noFill/>
          <a:ln/>
        </p:spPr>
        <p:txBody>
          <a:bodyPr wrap="square" lIns="0" tIns="0" rIns="0" bIns="0" rtlCol="0" anchor="t"/>
          <a:lstStyle/>
          <a:p>
            <a:pPr>
              <a:lnSpc>
                <a:spcPts val="2100"/>
              </a:lnSpc>
            </a:pPr>
            <a:r>
              <a:rPr lang="en-US" sz="1600" b="1" dirty="0">
                <a:latin typeface="Roboto" panose="02000000000000000000" pitchFamily="2" charset="0"/>
                <a:ea typeface="Roboto" panose="02000000000000000000" pitchFamily="2" charset="0"/>
                <a:cs typeface="Roboto" panose="02000000000000000000" pitchFamily="2" charset="0"/>
              </a:rPr>
              <a:t>React.js</a:t>
            </a:r>
            <a:r>
              <a:rPr lang="en-US" sz="1600" dirty="0">
                <a:latin typeface="Roboto" panose="02000000000000000000" pitchFamily="2" charset="0"/>
                <a:ea typeface="Roboto" panose="02000000000000000000" pitchFamily="2" charset="0"/>
                <a:cs typeface="Roboto" panose="02000000000000000000" pitchFamily="2" charset="0"/>
              </a:rPr>
              <a:t> – Used to build dynamic and responsive user interfaces.</a:t>
            </a:r>
          </a:p>
        </p:txBody>
      </p:sp>
      <p:pic>
        <p:nvPicPr>
          <p:cNvPr id="7"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408545" y="2132648"/>
            <a:ext cx="460415" cy="460415"/>
          </a:xfrm>
          <a:prstGeom prst="rect">
            <a:avLst/>
          </a:prstGeom>
        </p:spPr>
      </p:pic>
      <p:sp>
        <p:nvSpPr>
          <p:cNvPr id="8" name="Text 4"/>
          <p:cNvSpPr/>
          <p:nvPr/>
        </p:nvSpPr>
        <p:spPr>
          <a:xfrm>
            <a:off x="7408545" y="2779990"/>
            <a:ext cx="2607112" cy="287774"/>
          </a:xfrm>
          <a:prstGeom prst="rect">
            <a:avLst/>
          </a:prstGeom>
          <a:noFill/>
          <a:ln/>
        </p:spPr>
        <p:txBody>
          <a:bodyPr wrap="none" lIns="0" tIns="0" rIns="0" bIns="0" rtlCol="0" anchor="t"/>
          <a:lstStyle/>
          <a:p>
            <a:pPr marL="0" indent="0" algn="l">
              <a:lnSpc>
                <a:spcPts val="2250"/>
              </a:lnSpc>
              <a:buNone/>
            </a:pPr>
            <a:r>
              <a:rPr lang="en-US" sz="1800" dirty="0">
                <a:latin typeface="Roboto Slab" pitchFamily="2" charset="0"/>
                <a:ea typeface="Roboto Slab" pitchFamily="2" charset="0"/>
                <a:cs typeface="Roboto Slab" pitchFamily="2" charset="0"/>
              </a:rPr>
              <a:t>Backend</a:t>
            </a:r>
          </a:p>
        </p:txBody>
      </p:sp>
      <p:sp>
        <p:nvSpPr>
          <p:cNvPr id="9" name="Text 5"/>
          <p:cNvSpPr/>
          <p:nvPr/>
        </p:nvSpPr>
        <p:spPr>
          <a:xfrm>
            <a:off x="7408545" y="3157418"/>
            <a:ext cx="6261140" cy="533876"/>
          </a:xfrm>
          <a:prstGeom prst="rect">
            <a:avLst/>
          </a:prstGeom>
          <a:noFill/>
          <a:ln/>
        </p:spPr>
        <p:txBody>
          <a:bodyPr wrap="none" lIns="0" tIns="0" rIns="0" bIns="0" rtlCol="0" anchor="t"/>
          <a:lstStyle/>
          <a:p>
            <a:pPr>
              <a:lnSpc>
                <a:spcPts val="2100"/>
              </a:lnSpc>
            </a:pPr>
            <a:r>
              <a:rPr lang="en-IN" sz="1600" b="1" dirty="0">
                <a:latin typeface="Roboto" panose="02000000000000000000" pitchFamily="2" charset="0"/>
                <a:ea typeface="Roboto" panose="02000000000000000000" pitchFamily="2" charset="0"/>
                <a:cs typeface="Roboto" panose="02000000000000000000" pitchFamily="2" charset="0"/>
              </a:rPr>
              <a:t>Node.js</a:t>
            </a:r>
            <a:r>
              <a:rPr lang="en-IN" sz="1600" dirty="0">
                <a:latin typeface="Roboto" panose="02000000000000000000" pitchFamily="2" charset="0"/>
                <a:ea typeface="Roboto" panose="02000000000000000000" pitchFamily="2" charset="0"/>
                <a:cs typeface="Roboto" panose="02000000000000000000" pitchFamily="2" charset="0"/>
              </a:rPr>
              <a:t> – Server-side runtime environment.</a:t>
            </a:r>
          </a:p>
          <a:p>
            <a:pPr>
              <a:lnSpc>
                <a:spcPts val="2100"/>
              </a:lnSpc>
            </a:pPr>
            <a:r>
              <a:rPr lang="en-US" sz="1600" b="1" dirty="0">
                <a:latin typeface="Roboto" panose="02000000000000000000" pitchFamily="2" charset="0"/>
                <a:ea typeface="Roboto" panose="02000000000000000000" pitchFamily="2" charset="0"/>
                <a:cs typeface="Roboto" panose="02000000000000000000" pitchFamily="2" charset="0"/>
              </a:rPr>
              <a:t>Express.js</a:t>
            </a:r>
            <a:r>
              <a:rPr lang="en-US" sz="1600" dirty="0">
                <a:latin typeface="Roboto" panose="02000000000000000000" pitchFamily="2" charset="0"/>
                <a:ea typeface="Roboto" panose="02000000000000000000" pitchFamily="2" charset="0"/>
                <a:cs typeface="Roboto" panose="02000000000000000000" pitchFamily="2" charset="0"/>
              </a:rPr>
              <a:t> – Framework for handling routing and server logic.</a:t>
            </a:r>
          </a:p>
        </p:txBody>
      </p:sp>
      <p:pic>
        <p:nvPicPr>
          <p:cNvPr id="10"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60596" y="3990380"/>
            <a:ext cx="460415" cy="460415"/>
          </a:xfrm>
          <a:prstGeom prst="rect">
            <a:avLst/>
          </a:prstGeom>
        </p:spPr>
      </p:pic>
      <p:sp>
        <p:nvSpPr>
          <p:cNvPr id="11" name="Text 6"/>
          <p:cNvSpPr/>
          <p:nvPr/>
        </p:nvSpPr>
        <p:spPr>
          <a:xfrm>
            <a:off x="960596" y="4637722"/>
            <a:ext cx="2302312" cy="287774"/>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Database </a:t>
            </a:r>
            <a:endParaRPr lang="en-US" sz="1800" dirty="0"/>
          </a:p>
        </p:txBody>
      </p:sp>
      <p:sp>
        <p:nvSpPr>
          <p:cNvPr id="12" name="Text 7"/>
          <p:cNvSpPr/>
          <p:nvPr/>
        </p:nvSpPr>
        <p:spPr>
          <a:xfrm>
            <a:off x="960596" y="5015151"/>
            <a:ext cx="6261021" cy="533876"/>
          </a:xfrm>
          <a:prstGeom prst="rect">
            <a:avLst/>
          </a:prstGeom>
          <a:noFill/>
          <a:ln/>
        </p:spPr>
        <p:txBody>
          <a:bodyPr wrap="square" lIns="0" tIns="0" rIns="0" bIns="0" rtlCol="0" anchor="t"/>
          <a:lstStyle/>
          <a:p>
            <a:pPr>
              <a:lnSpc>
                <a:spcPts val="2100"/>
              </a:lnSpc>
            </a:pPr>
            <a:r>
              <a:rPr lang="en-IN" sz="1600" b="1" dirty="0">
                <a:latin typeface="Roboto" panose="02000000000000000000" pitchFamily="2" charset="0"/>
                <a:ea typeface="Roboto" panose="02000000000000000000" pitchFamily="2" charset="0"/>
                <a:cs typeface="Roboto" panose="02000000000000000000" pitchFamily="2" charset="0"/>
              </a:rPr>
              <a:t>MongoDB</a:t>
            </a:r>
            <a:r>
              <a:rPr lang="en-IN" sz="1600" dirty="0">
                <a:latin typeface="Roboto" panose="02000000000000000000" pitchFamily="2" charset="0"/>
                <a:ea typeface="Roboto" panose="02000000000000000000" pitchFamily="2" charset="0"/>
                <a:cs typeface="Roboto" panose="02000000000000000000" pitchFamily="2" charset="0"/>
              </a:rPr>
              <a:t> – NoSQL database for storing users, reports, and forum data.</a:t>
            </a:r>
            <a:endParaRPr lang="en-US" sz="1450" dirty="0">
              <a:latin typeface="Roboto" panose="02000000000000000000" pitchFamily="2" charset="0"/>
              <a:ea typeface="Roboto" panose="02000000000000000000" pitchFamily="2" charset="0"/>
              <a:cs typeface="Roboto" panose="02000000000000000000" pitchFamily="2" charset="0"/>
            </a:endParaRPr>
          </a:p>
        </p:txBody>
      </p:sp>
      <p:pic>
        <p:nvPicPr>
          <p:cNvPr id="16" name="Image 4"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7408664" y="4114800"/>
            <a:ext cx="460415" cy="460415"/>
          </a:xfrm>
          <a:prstGeom prst="rect">
            <a:avLst/>
          </a:prstGeom>
        </p:spPr>
      </p:pic>
      <p:sp>
        <p:nvSpPr>
          <p:cNvPr id="17" name="Text 10"/>
          <p:cNvSpPr/>
          <p:nvPr/>
        </p:nvSpPr>
        <p:spPr>
          <a:xfrm>
            <a:off x="7408664" y="4762143"/>
            <a:ext cx="2302312" cy="287774"/>
          </a:xfrm>
          <a:prstGeom prst="rect">
            <a:avLst/>
          </a:prstGeom>
          <a:noFill/>
          <a:ln/>
        </p:spPr>
        <p:txBody>
          <a:bodyPr wrap="none" lIns="0" tIns="0" rIns="0" bIns="0" rtlCol="0" anchor="t"/>
          <a:lstStyle/>
          <a:p>
            <a:pPr marL="0" indent="0" algn="l">
              <a:lnSpc>
                <a:spcPts val="2250"/>
              </a:lnSpc>
              <a:buNone/>
            </a:pPr>
            <a:r>
              <a:rPr lang="en-US" sz="1800" dirty="0">
                <a:solidFill>
                  <a:srgbClr val="15213F"/>
                </a:solidFill>
                <a:latin typeface="Roboto Slab" pitchFamily="34" charset="0"/>
                <a:ea typeface="Roboto Slab" pitchFamily="34" charset="-122"/>
                <a:cs typeface="Roboto Slab" pitchFamily="34" charset="-120"/>
              </a:rPr>
              <a:t>Development Tools</a:t>
            </a:r>
            <a:endParaRPr lang="en-US" sz="1800" dirty="0"/>
          </a:p>
        </p:txBody>
      </p:sp>
      <p:sp>
        <p:nvSpPr>
          <p:cNvPr id="18" name="Text 11"/>
          <p:cNvSpPr/>
          <p:nvPr/>
        </p:nvSpPr>
        <p:spPr>
          <a:xfrm>
            <a:off x="7408664" y="5139571"/>
            <a:ext cx="6261021" cy="266938"/>
          </a:xfrm>
          <a:prstGeom prst="rect">
            <a:avLst/>
          </a:prstGeom>
          <a:noFill/>
          <a:ln/>
        </p:spPr>
        <p:txBody>
          <a:bodyPr wrap="none" lIns="0" tIns="0" rIns="0" bIns="0" rtlCol="0" anchor="t"/>
          <a:lstStyle/>
          <a:p>
            <a:pPr>
              <a:lnSpc>
                <a:spcPts val="2100"/>
              </a:lnSpc>
            </a:pPr>
            <a:r>
              <a:rPr lang="en-IN" sz="1600" dirty="0">
                <a:latin typeface="Roboto" panose="02000000000000000000" pitchFamily="2" charset="0"/>
                <a:ea typeface="Roboto" panose="02000000000000000000" pitchFamily="2" charset="0"/>
                <a:cs typeface="Roboto" panose="02000000000000000000" pitchFamily="2" charset="0"/>
              </a:rPr>
              <a:t>VS Code – Code editor, Git &amp; GitHub – Version control, Figma – UI/UX design</a:t>
            </a:r>
            <a:endParaRPr lang="en-US" sz="1450" dirty="0">
              <a:latin typeface="Roboto" panose="02000000000000000000" pitchFamily="2" charset="0"/>
              <a:ea typeface="Roboto" panose="02000000000000000000" pitchFamily="2" charset="0"/>
              <a:cs typeface="Roboto" panose="02000000000000000000" pitchFamily="2" charset="0"/>
            </a:endParaRPr>
          </a:p>
        </p:txBody>
      </p:sp>
      <p:sp>
        <p:nvSpPr>
          <p:cNvPr id="22" name="Rectangle 21">
            <a:extLst>
              <a:ext uri="{FF2B5EF4-FFF2-40B4-BE49-F238E27FC236}">
                <a16:creationId xmlns:a16="http://schemas.microsoft.com/office/drawing/2014/main" id="{8BF249E2-7BE8-7FAC-9FA9-1128923F961C}"/>
              </a:ext>
            </a:extLst>
          </p:cNvPr>
          <p:cNvSpPr/>
          <p:nvPr/>
        </p:nvSpPr>
        <p:spPr>
          <a:xfrm>
            <a:off x="12656128" y="7564582"/>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3" name="Text 0"/>
          <p:cNvSpPr/>
          <p:nvPr/>
        </p:nvSpPr>
        <p:spPr>
          <a:xfrm>
            <a:off x="845939" y="830775"/>
            <a:ext cx="5395793" cy="674489"/>
          </a:xfrm>
          <a:prstGeom prst="rect">
            <a:avLst/>
          </a:prstGeom>
          <a:noFill/>
          <a:ln/>
        </p:spPr>
        <p:txBody>
          <a:bodyPr wrap="none" lIns="0" tIns="0" rIns="0" bIns="0" rtlCol="0" anchor="t"/>
          <a:lstStyle/>
          <a:p>
            <a:pPr marL="0" indent="0" algn="l">
              <a:lnSpc>
                <a:spcPts val="5300"/>
              </a:lnSpc>
              <a:buNone/>
            </a:pPr>
            <a:r>
              <a:rPr lang="en-US" sz="4400" dirty="0">
                <a:solidFill>
                  <a:srgbClr val="3257B8"/>
                </a:solidFill>
                <a:latin typeface="Roboto Slab" pitchFamily="34" charset="0"/>
                <a:ea typeface="Roboto Slab" pitchFamily="34" charset="-122"/>
                <a:cs typeface="Roboto Slab" pitchFamily="34" charset="-120"/>
              </a:rPr>
              <a:t>System Architecture</a:t>
            </a:r>
            <a:endParaRPr lang="en-US" sz="4400" dirty="0"/>
          </a:p>
        </p:txBody>
      </p:sp>
      <p:sp>
        <p:nvSpPr>
          <p:cNvPr id="14" name="Rectangle 13">
            <a:extLst>
              <a:ext uri="{FF2B5EF4-FFF2-40B4-BE49-F238E27FC236}">
                <a16:creationId xmlns:a16="http://schemas.microsoft.com/office/drawing/2014/main" id="{724E9CF7-305B-F857-F7AB-2D5C84B03534}"/>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pic>
        <p:nvPicPr>
          <p:cNvPr id="16" name="Picture 15">
            <a:extLst>
              <a:ext uri="{FF2B5EF4-FFF2-40B4-BE49-F238E27FC236}">
                <a16:creationId xmlns:a16="http://schemas.microsoft.com/office/drawing/2014/main" id="{30E2E10C-DA7B-6C71-35F4-1ED542FB7E32}"/>
              </a:ext>
            </a:extLst>
          </p:cNvPr>
          <p:cNvPicPr>
            <a:picLocks noChangeAspect="1"/>
          </p:cNvPicPr>
          <p:nvPr/>
        </p:nvPicPr>
        <p:blipFill>
          <a:blip r:embed="rId3"/>
          <a:srcRect t="8862" b="8730"/>
          <a:stretch>
            <a:fillRect/>
          </a:stretch>
        </p:blipFill>
        <p:spPr>
          <a:xfrm>
            <a:off x="4094018" y="1505264"/>
            <a:ext cx="5486400" cy="6473537"/>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3" name="Text 0"/>
          <p:cNvSpPr/>
          <p:nvPr/>
        </p:nvSpPr>
        <p:spPr>
          <a:xfrm>
            <a:off x="665678" y="955715"/>
            <a:ext cx="4761190" cy="594360"/>
          </a:xfrm>
          <a:prstGeom prst="rect">
            <a:avLst/>
          </a:prstGeom>
          <a:noFill/>
          <a:ln/>
        </p:spPr>
        <p:txBody>
          <a:bodyPr wrap="none" lIns="0" tIns="0" rIns="0" bIns="0" rtlCol="0" anchor="t"/>
          <a:lstStyle/>
          <a:p>
            <a:pPr marL="0" indent="0" algn="l">
              <a:lnSpc>
                <a:spcPts val="4650"/>
              </a:lnSpc>
              <a:buNone/>
            </a:pPr>
            <a:r>
              <a:rPr lang="en-US" sz="3700" dirty="0">
                <a:solidFill>
                  <a:srgbClr val="3257B8"/>
                </a:solidFill>
                <a:latin typeface="Roboto Slab" pitchFamily="34" charset="0"/>
                <a:ea typeface="Roboto Slab" pitchFamily="34" charset="-122"/>
                <a:cs typeface="Roboto Slab" pitchFamily="34" charset="-120"/>
              </a:rPr>
              <a:t>Implementation</a:t>
            </a:r>
            <a:endParaRPr lang="en-US" sz="3700" dirty="0"/>
          </a:p>
        </p:txBody>
      </p:sp>
      <p:sp>
        <p:nvSpPr>
          <p:cNvPr id="26" name="Rectangle 25">
            <a:extLst>
              <a:ext uri="{FF2B5EF4-FFF2-40B4-BE49-F238E27FC236}">
                <a16:creationId xmlns:a16="http://schemas.microsoft.com/office/drawing/2014/main" id="{D80B5EA9-33E1-4B13-9512-DF5D82AD3095}"/>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FADB247A-7B31-AC44-08FC-27D59DD94DE1}"/>
              </a:ext>
            </a:extLst>
          </p:cNvPr>
          <p:cNvSpPr txBox="1"/>
          <p:nvPr/>
        </p:nvSpPr>
        <p:spPr>
          <a:xfrm>
            <a:off x="5808729" y="7283745"/>
            <a:ext cx="3012941" cy="523220"/>
          </a:xfrm>
          <a:prstGeom prst="rect">
            <a:avLst/>
          </a:prstGeom>
          <a:noFill/>
        </p:spPr>
        <p:txBody>
          <a:bodyPr wrap="none" rtlCol="0">
            <a:spAutoFit/>
          </a:bodyPr>
          <a:lstStyle/>
          <a:p>
            <a:r>
              <a:rPr lang="en-IN" sz="2800" b="1" dirty="0"/>
              <a:t>Data Flow Diagram</a:t>
            </a:r>
          </a:p>
        </p:txBody>
      </p:sp>
      <p:pic>
        <p:nvPicPr>
          <p:cNvPr id="4" name="Picture 3">
            <a:extLst>
              <a:ext uri="{FF2B5EF4-FFF2-40B4-BE49-F238E27FC236}">
                <a16:creationId xmlns:a16="http://schemas.microsoft.com/office/drawing/2014/main" id="{66F2D203-2842-FB4E-07FF-5786B519997E}"/>
              </a:ext>
            </a:extLst>
          </p:cNvPr>
          <p:cNvPicPr>
            <a:picLocks noChangeAspect="1"/>
          </p:cNvPicPr>
          <p:nvPr/>
        </p:nvPicPr>
        <p:blipFill>
          <a:blip r:embed="rId3"/>
          <a:stretch>
            <a:fillRect/>
          </a:stretch>
        </p:blipFill>
        <p:spPr>
          <a:xfrm>
            <a:off x="3390900" y="1502856"/>
            <a:ext cx="7848600" cy="5771029"/>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20066B7-1D0F-7AD3-D4EE-C6004D059B7D}"/>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8DFA4C3F-3B7D-E06D-27FF-77E933C1D658}"/>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69A65D47-E6AF-93FB-2E20-344F842AF2ED}"/>
              </a:ext>
            </a:extLst>
          </p:cNvPr>
          <p:cNvSpPr txBox="1"/>
          <p:nvPr/>
        </p:nvSpPr>
        <p:spPr>
          <a:xfrm>
            <a:off x="6418511" y="6806107"/>
            <a:ext cx="1793376" cy="523220"/>
          </a:xfrm>
          <a:prstGeom prst="rect">
            <a:avLst/>
          </a:prstGeom>
          <a:noFill/>
        </p:spPr>
        <p:txBody>
          <a:bodyPr wrap="none" rtlCol="0">
            <a:spAutoFit/>
          </a:bodyPr>
          <a:lstStyle/>
          <a:p>
            <a:r>
              <a:rPr lang="en-IN" sz="2800" b="1" dirty="0"/>
              <a:t>Flow Chart</a:t>
            </a:r>
          </a:p>
        </p:txBody>
      </p:sp>
      <p:pic>
        <p:nvPicPr>
          <p:cNvPr id="4100" name="Picture 4">
            <a:extLst>
              <a:ext uri="{FF2B5EF4-FFF2-40B4-BE49-F238E27FC236}">
                <a16:creationId xmlns:a16="http://schemas.microsoft.com/office/drawing/2014/main" id="{348E61D7-278B-DBA2-6B11-603EAF14143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08109" y="858992"/>
            <a:ext cx="13014180" cy="58297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3923845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100F0-F140-6176-CEFF-495F965098D9}"/>
            </a:ext>
          </a:extLst>
        </p:cNvPr>
        <p:cNvGrpSpPr/>
        <p:nvPr/>
      </p:nvGrpSpPr>
      <p:grpSpPr>
        <a:xfrm>
          <a:off x="0" y="0"/>
          <a:ext cx="0" cy="0"/>
          <a:chOff x="0" y="0"/>
          <a:chExt cx="0" cy="0"/>
        </a:xfrm>
      </p:grpSpPr>
      <p:sp>
        <p:nvSpPr>
          <p:cNvPr id="26" name="Rectangle 25">
            <a:extLst>
              <a:ext uri="{FF2B5EF4-FFF2-40B4-BE49-F238E27FC236}">
                <a16:creationId xmlns:a16="http://schemas.microsoft.com/office/drawing/2014/main" id="{2F9865BB-F057-D82C-E393-2DB6FCDA6302}"/>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27" name="TextBox 26">
            <a:extLst>
              <a:ext uri="{FF2B5EF4-FFF2-40B4-BE49-F238E27FC236}">
                <a16:creationId xmlns:a16="http://schemas.microsoft.com/office/drawing/2014/main" id="{67CB8E75-C0DC-9573-B5DD-43B312A5100E}"/>
              </a:ext>
            </a:extLst>
          </p:cNvPr>
          <p:cNvSpPr txBox="1"/>
          <p:nvPr/>
        </p:nvSpPr>
        <p:spPr>
          <a:xfrm>
            <a:off x="5984770" y="7396141"/>
            <a:ext cx="2660857" cy="523220"/>
          </a:xfrm>
          <a:prstGeom prst="rect">
            <a:avLst/>
          </a:prstGeom>
          <a:noFill/>
        </p:spPr>
        <p:txBody>
          <a:bodyPr wrap="none" rtlCol="0">
            <a:spAutoFit/>
          </a:bodyPr>
          <a:lstStyle/>
          <a:p>
            <a:r>
              <a:rPr lang="en-IN" sz="2800" b="1" dirty="0"/>
              <a:t>Database Design</a:t>
            </a:r>
          </a:p>
        </p:txBody>
      </p:sp>
      <p:pic>
        <p:nvPicPr>
          <p:cNvPr id="5122" name="Picture 2">
            <a:extLst>
              <a:ext uri="{FF2B5EF4-FFF2-40B4-BE49-F238E27FC236}">
                <a16:creationId xmlns:a16="http://schemas.microsoft.com/office/drawing/2014/main" id="{FADEC3A6-3799-A7D5-36BE-76619AE514E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130136" y="425965"/>
            <a:ext cx="10370127" cy="691341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24690189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nvSpPr>
        <p:spPr>
          <a:xfrm>
            <a:off x="722828" y="706398"/>
            <a:ext cx="5422702" cy="645438"/>
          </a:xfrm>
          <a:prstGeom prst="rect">
            <a:avLst/>
          </a:prstGeom>
          <a:noFill/>
          <a:ln/>
        </p:spPr>
        <p:txBody>
          <a:bodyPr wrap="none" lIns="0" tIns="0" rIns="0" bIns="0" rtlCol="0" anchor="t"/>
          <a:lstStyle/>
          <a:p>
            <a:pPr marL="0" indent="0" algn="l">
              <a:lnSpc>
                <a:spcPts val="5050"/>
              </a:lnSpc>
              <a:buNone/>
            </a:pPr>
            <a:r>
              <a:rPr lang="en-US" sz="4050" dirty="0">
                <a:solidFill>
                  <a:srgbClr val="3257B8"/>
                </a:solidFill>
                <a:latin typeface="Roboto Slab" pitchFamily="34" charset="0"/>
                <a:ea typeface="Roboto Slab" pitchFamily="34" charset="-122"/>
                <a:cs typeface="Roboto Slab" pitchFamily="34" charset="-120"/>
              </a:rPr>
              <a:t>Future Enhancements</a:t>
            </a:r>
            <a:endParaRPr lang="en-US" sz="4050" dirty="0"/>
          </a:p>
        </p:txBody>
      </p:sp>
      <p:sp>
        <p:nvSpPr>
          <p:cNvPr id="3" name="Text 1"/>
          <p:cNvSpPr/>
          <p:nvPr/>
        </p:nvSpPr>
        <p:spPr>
          <a:xfrm>
            <a:off x="722828" y="1727954"/>
            <a:ext cx="13184743" cy="631269"/>
          </a:xfrm>
          <a:prstGeom prst="rect">
            <a:avLst/>
          </a:prstGeom>
          <a:noFill/>
          <a:ln/>
        </p:spPr>
        <p:txBody>
          <a:bodyPr wrap="square" lIns="0" tIns="0" rIns="0" bIns="0" rtlCol="0" anchor="t"/>
          <a:lstStyle/>
          <a:p>
            <a:pPr marL="0" indent="0" algn="l">
              <a:lnSpc>
                <a:spcPts val="2450"/>
              </a:lnSpc>
              <a:buNone/>
            </a:pPr>
            <a:endParaRPr lang="en-US" sz="1600" dirty="0"/>
          </a:p>
        </p:txBody>
      </p:sp>
      <p:sp>
        <p:nvSpPr>
          <p:cNvPr id="4" name="Shape 2"/>
          <p:cNvSpPr/>
          <p:nvPr/>
        </p:nvSpPr>
        <p:spPr>
          <a:xfrm>
            <a:off x="722828" y="2570798"/>
            <a:ext cx="6498312" cy="1525429"/>
          </a:xfrm>
          <a:prstGeom prst="roundRect">
            <a:avLst>
              <a:gd name="adj" fmla="val 2031"/>
            </a:avLst>
          </a:prstGeom>
          <a:solidFill>
            <a:srgbClr val="FBFCFE"/>
          </a:solidFill>
          <a:ln w="22860">
            <a:solidFill>
              <a:srgbClr val="CFD2D8"/>
            </a:solidFill>
            <a:prstDash val="solid"/>
          </a:ln>
        </p:spPr>
      </p:sp>
      <p:sp>
        <p:nvSpPr>
          <p:cNvPr id="5" name="Text 3"/>
          <p:cNvSpPr/>
          <p:nvPr/>
        </p:nvSpPr>
        <p:spPr>
          <a:xfrm>
            <a:off x="952143" y="2800112"/>
            <a:ext cx="2581870" cy="322778"/>
          </a:xfrm>
          <a:prstGeom prst="rect">
            <a:avLst/>
          </a:prstGeom>
          <a:noFill/>
          <a:ln/>
        </p:spPr>
        <p:txBody>
          <a:bodyPr wrap="none" lIns="0" tIns="0" rIns="0" bIns="0" rtlCol="0" anchor="t"/>
          <a:lstStyle/>
          <a:p>
            <a:pPr>
              <a:lnSpc>
                <a:spcPts val="2500"/>
              </a:lnSpc>
            </a:pPr>
            <a:r>
              <a:rPr lang="en-IN" sz="2000" dirty="0"/>
              <a:t>AI-Based Fake Report Detection</a:t>
            </a:r>
            <a:endParaRPr lang="en-US" sz="2000" dirty="0"/>
          </a:p>
        </p:txBody>
      </p:sp>
      <p:sp>
        <p:nvSpPr>
          <p:cNvPr id="6" name="Text 4"/>
          <p:cNvSpPr/>
          <p:nvPr/>
        </p:nvSpPr>
        <p:spPr>
          <a:xfrm>
            <a:off x="952143" y="3156466"/>
            <a:ext cx="6039683" cy="631269"/>
          </a:xfrm>
          <a:prstGeom prst="rect">
            <a:avLst/>
          </a:prstGeom>
          <a:noFill/>
          <a:ln/>
        </p:spPr>
        <p:txBody>
          <a:bodyPr wrap="square" lIns="0" tIns="0" rIns="0" bIns="0" rtlCol="0" anchor="t"/>
          <a:lstStyle/>
          <a:p>
            <a:pPr algn="just">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Implement machine learning algorithms to automatically detect duplicate, misleading, or suspicious reports to improve system reliability.</a:t>
            </a:r>
          </a:p>
        </p:txBody>
      </p:sp>
      <p:sp>
        <p:nvSpPr>
          <p:cNvPr id="7" name="Shape 5"/>
          <p:cNvSpPr/>
          <p:nvPr/>
        </p:nvSpPr>
        <p:spPr>
          <a:xfrm>
            <a:off x="7409140" y="2570798"/>
            <a:ext cx="6498431" cy="1525429"/>
          </a:xfrm>
          <a:prstGeom prst="roundRect">
            <a:avLst>
              <a:gd name="adj" fmla="val 2031"/>
            </a:avLst>
          </a:prstGeom>
          <a:solidFill>
            <a:srgbClr val="FBFCFE"/>
          </a:solidFill>
          <a:ln w="22860">
            <a:solidFill>
              <a:srgbClr val="CFD2D8"/>
            </a:solidFill>
            <a:prstDash val="solid"/>
          </a:ln>
        </p:spPr>
      </p:sp>
      <p:sp>
        <p:nvSpPr>
          <p:cNvPr id="8" name="Text 6"/>
          <p:cNvSpPr/>
          <p:nvPr/>
        </p:nvSpPr>
        <p:spPr>
          <a:xfrm>
            <a:off x="7638455" y="2800112"/>
            <a:ext cx="3221831" cy="322778"/>
          </a:xfrm>
          <a:prstGeom prst="rect">
            <a:avLst/>
          </a:prstGeom>
          <a:noFill/>
          <a:ln/>
        </p:spPr>
        <p:txBody>
          <a:bodyPr wrap="none" lIns="0" tIns="0" rIns="0" bIns="0" rtlCol="0" anchor="t"/>
          <a:lstStyle/>
          <a:p>
            <a:pPr>
              <a:lnSpc>
                <a:spcPts val="2500"/>
              </a:lnSpc>
            </a:pPr>
            <a:r>
              <a:rPr lang="en-IN" sz="2000" dirty="0"/>
              <a:t>IoT Sensor Integration</a:t>
            </a:r>
            <a:endParaRPr lang="en-US" sz="2000" dirty="0"/>
          </a:p>
        </p:txBody>
      </p:sp>
      <p:sp>
        <p:nvSpPr>
          <p:cNvPr id="9" name="Text 7"/>
          <p:cNvSpPr/>
          <p:nvPr/>
        </p:nvSpPr>
        <p:spPr>
          <a:xfrm>
            <a:off x="7638455" y="3235643"/>
            <a:ext cx="603980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Integrate real-time water quality sensors to automatically collect data such as pH, turbidity, and contamination levels.</a:t>
            </a:r>
          </a:p>
        </p:txBody>
      </p:sp>
      <p:sp>
        <p:nvSpPr>
          <p:cNvPr id="10" name="Shape 8"/>
          <p:cNvSpPr/>
          <p:nvPr/>
        </p:nvSpPr>
        <p:spPr>
          <a:xfrm>
            <a:off x="722828" y="4284226"/>
            <a:ext cx="6498312" cy="1525429"/>
          </a:xfrm>
          <a:prstGeom prst="roundRect">
            <a:avLst>
              <a:gd name="adj" fmla="val 2031"/>
            </a:avLst>
          </a:prstGeom>
          <a:solidFill>
            <a:srgbClr val="FBFCFE"/>
          </a:solidFill>
          <a:ln w="22860">
            <a:solidFill>
              <a:srgbClr val="CFD2D8"/>
            </a:solidFill>
            <a:prstDash val="solid"/>
          </a:ln>
        </p:spPr>
      </p:sp>
      <p:sp>
        <p:nvSpPr>
          <p:cNvPr id="11" name="Text 9"/>
          <p:cNvSpPr/>
          <p:nvPr/>
        </p:nvSpPr>
        <p:spPr>
          <a:xfrm>
            <a:off x="952143" y="4513540"/>
            <a:ext cx="3130987" cy="322778"/>
          </a:xfrm>
          <a:prstGeom prst="rect">
            <a:avLst/>
          </a:prstGeom>
          <a:noFill/>
          <a:ln/>
        </p:spPr>
        <p:txBody>
          <a:bodyPr wrap="none" lIns="0" tIns="0" rIns="0" bIns="0" rtlCol="0" anchor="t"/>
          <a:lstStyle/>
          <a:p>
            <a:pPr>
              <a:lnSpc>
                <a:spcPts val="2500"/>
              </a:lnSpc>
            </a:pPr>
            <a:r>
              <a:rPr lang="en-IN" sz="2000" dirty="0"/>
              <a:t>Mobile Application Development</a:t>
            </a:r>
            <a:endParaRPr lang="en-US" sz="2000" dirty="0"/>
          </a:p>
        </p:txBody>
      </p:sp>
      <p:sp>
        <p:nvSpPr>
          <p:cNvPr id="12" name="Text 10"/>
          <p:cNvSpPr/>
          <p:nvPr/>
        </p:nvSpPr>
        <p:spPr>
          <a:xfrm>
            <a:off x="952143" y="4949071"/>
            <a:ext cx="603968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Develop an Android/iOS mobile app to increase accessibility and allow users to report issues instantly.</a:t>
            </a:r>
          </a:p>
        </p:txBody>
      </p:sp>
      <p:sp>
        <p:nvSpPr>
          <p:cNvPr id="13" name="Shape 11"/>
          <p:cNvSpPr/>
          <p:nvPr/>
        </p:nvSpPr>
        <p:spPr>
          <a:xfrm>
            <a:off x="7409140" y="4284226"/>
            <a:ext cx="6498431" cy="1525429"/>
          </a:xfrm>
          <a:prstGeom prst="roundRect">
            <a:avLst>
              <a:gd name="adj" fmla="val 2031"/>
            </a:avLst>
          </a:prstGeom>
          <a:solidFill>
            <a:srgbClr val="FBFCFE"/>
          </a:solidFill>
          <a:ln w="22860">
            <a:solidFill>
              <a:srgbClr val="CFD2D8"/>
            </a:solidFill>
            <a:prstDash val="solid"/>
          </a:ln>
        </p:spPr>
      </p:sp>
      <p:sp>
        <p:nvSpPr>
          <p:cNvPr id="14" name="Text 12"/>
          <p:cNvSpPr/>
          <p:nvPr/>
        </p:nvSpPr>
        <p:spPr>
          <a:xfrm>
            <a:off x="7638455" y="4513540"/>
            <a:ext cx="2894528" cy="322778"/>
          </a:xfrm>
          <a:prstGeom prst="rect">
            <a:avLst/>
          </a:prstGeom>
          <a:noFill/>
          <a:ln/>
        </p:spPr>
        <p:txBody>
          <a:bodyPr wrap="none" lIns="0" tIns="0" rIns="0" bIns="0" rtlCol="0" anchor="t"/>
          <a:lstStyle/>
          <a:p>
            <a:pPr>
              <a:lnSpc>
                <a:spcPts val="2500"/>
              </a:lnSpc>
            </a:pPr>
            <a:r>
              <a:rPr lang="en-IN" sz="2000" dirty="0"/>
              <a:t>Government Portal Integration</a:t>
            </a:r>
            <a:endParaRPr lang="en-US" sz="2000" dirty="0"/>
          </a:p>
        </p:txBody>
      </p:sp>
      <p:sp>
        <p:nvSpPr>
          <p:cNvPr id="15" name="Text 13"/>
          <p:cNvSpPr/>
          <p:nvPr/>
        </p:nvSpPr>
        <p:spPr>
          <a:xfrm>
            <a:off x="7638456" y="4949070"/>
            <a:ext cx="6039802" cy="732949"/>
          </a:xfrm>
          <a:prstGeom prst="rect">
            <a:avLst/>
          </a:prstGeom>
          <a:noFill/>
          <a:ln/>
        </p:spPr>
        <p:txBody>
          <a:bodyPr wrap="non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Connect the system with official municipal or water department </a:t>
            </a:r>
          </a:p>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portals for faster and more structured authority response.</a:t>
            </a:r>
          </a:p>
        </p:txBody>
      </p:sp>
      <p:sp>
        <p:nvSpPr>
          <p:cNvPr id="16" name="Shape 14"/>
          <p:cNvSpPr/>
          <p:nvPr/>
        </p:nvSpPr>
        <p:spPr>
          <a:xfrm>
            <a:off x="722828" y="5997654"/>
            <a:ext cx="6498312" cy="1525429"/>
          </a:xfrm>
          <a:prstGeom prst="roundRect">
            <a:avLst>
              <a:gd name="adj" fmla="val 2031"/>
            </a:avLst>
          </a:prstGeom>
          <a:solidFill>
            <a:srgbClr val="FBFCFE"/>
          </a:solidFill>
          <a:ln w="22860">
            <a:solidFill>
              <a:srgbClr val="CFD2D8"/>
            </a:solidFill>
            <a:prstDash val="solid"/>
          </a:ln>
        </p:spPr>
      </p:sp>
      <p:sp>
        <p:nvSpPr>
          <p:cNvPr id="17" name="Text 15"/>
          <p:cNvSpPr/>
          <p:nvPr/>
        </p:nvSpPr>
        <p:spPr>
          <a:xfrm>
            <a:off x="952143" y="6226969"/>
            <a:ext cx="2697123" cy="322778"/>
          </a:xfrm>
          <a:prstGeom prst="rect">
            <a:avLst/>
          </a:prstGeom>
          <a:noFill/>
          <a:ln/>
        </p:spPr>
        <p:txBody>
          <a:bodyPr wrap="none" lIns="0" tIns="0" rIns="0" bIns="0" rtlCol="0" anchor="t"/>
          <a:lstStyle/>
          <a:p>
            <a:pPr>
              <a:lnSpc>
                <a:spcPts val="2500"/>
              </a:lnSpc>
            </a:pPr>
            <a:r>
              <a:rPr lang="en-IN" sz="2000" dirty="0"/>
              <a:t>Advanced Data Analytics &amp; Prediction</a:t>
            </a:r>
            <a:endParaRPr lang="en-US" sz="2000" dirty="0"/>
          </a:p>
        </p:txBody>
      </p:sp>
      <p:sp>
        <p:nvSpPr>
          <p:cNvPr id="18" name="Text 16"/>
          <p:cNvSpPr/>
          <p:nvPr/>
        </p:nvSpPr>
        <p:spPr>
          <a:xfrm>
            <a:off x="952143" y="6662499"/>
            <a:ext cx="6039683" cy="631269"/>
          </a:xfrm>
          <a:prstGeom prst="rect">
            <a:avLst/>
          </a:prstGeom>
          <a:noFill/>
          <a:ln/>
        </p:spPr>
        <p:txBody>
          <a:bodyPr wrap="squar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Use data analytics to identify contamination patterns, high-risk areas, and predict future water-related issues.</a:t>
            </a:r>
          </a:p>
        </p:txBody>
      </p:sp>
      <p:sp>
        <p:nvSpPr>
          <p:cNvPr id="19" name="Shape 17"/>
          <p:cNvSpPr/>
          <p:nvPr/>
        </p:nvSpPr>
        <p:spPr>
          <a:xfrm>
            <a:off x="7409140" y="5997654"/>
            <a:ext cx="6498431" cy="1525429"/>
          </a:xfrm>
          <a:prstGeom prst="roundRect">
            <a:avLst>
              <a:gd name="adj" fmla="val 2031"/>
            </a:avLst>
          </a:prstGeom>
          <a:solidFill>
            <a:srgbClr val="FBFCFE"/>
          </a:solidFill>
          <a:ln w="22860">
            <a:solidFill>
              <a:srgbClr val="CFD2D8"/>
            </a:solidFill>
            <a:prstDash val="solid"/>
          </a:ln>
        </p:spPr>
      </p:sp>
      <p:sp>
        <p:nvSpPr>
          <p:cNvPr id="20" name="Text 18"/>
          <p:cNvSpPr/>
          <p:nvPr/>
        </p:nvSpPr>
        <p:spPr>
          <a:xfrm>
            <a:off x="7638455" y="6226969"/>
            <a:ext cx="2829282" cy="322778"/>
          </a:xfrm>
          <a:prstGeom prst="rect">
            <a:avLst/>
          </a:prstGeom>
          <a:noFill/>
          <a:ln/>
        </p:spPr>
        <p:txBody>
          <a:bodyPr wrap="none" lIns="0" tIns="0" rIns="0" bIns="0" rtlCol="0" anchor="t"/>
          <a:lstStyle/>
          <a:p>
            <a:pPr>
              <a:lnSpc>
                <a:spcPts val="2500"/>
              </a:lnSpc>
            </a:pPr>
            <a:r>
              <a:rPr lang="en-IN" sz="2000" dirty="0"/>
              <a:t>Enhanced Security Mechanisms</a:t>
            </a:r>
            <a:endParaRPr lang="en-US" sz="2000" dirty="0"/>
          </a:p>
        </p:txBody>
      </p:sp>
      <p:sp>
        <p:nvSpPr>
          <p:cNvPr id="21" name="Text 19"/>
          <p:cNvSpPr/>
          <p:nvPr/>
        </p:nvSpPr>
        <p:spPr>
          <a:xfrm>
            <a:off x="7638455" y="6662499"/>
            <a:ext cx="6039803" cy="744020"/>
          </a:xfrm>
          <a:prstGeom prst="rect">
            <a:avLst/>
          </a:prstGeom>
          <a:noFill/>
          <a:ln/>
        </p:spPr>
        <p:txBody>
          <a:bodyPr wrap="none" lIns="0" tIns="0" rIns="0" bIns="0" rtlCol="0" anchor="t"/>
          <a:lstStyle/>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Implement multi-factor authentication, encrypted data storage, and </a:t>
            </a:r>
          </a:p>
          <a:p>
            <a:pPr>
              <a:lnSpc>
                <a:spcPts val="2450"/>
              </a:lnSpc>
            </a:pPr>
            <a:r>
              <a:rPr lang="en-US" sz="1600" dirty="0">
                <a:latin typeface="Roboto" panose="02000000000000000000" pitchFamily="2" charset="0"/>
                <a:ea typeface="Roboto" panose="02000000000000000000" pitchFamily="2" charset="0"/>
                <a:cs typeface="Roboto" panose="02000000000000000000" pitchFamily="2" charset="0"/>
              </a:rPr>
              <a:t>stronger role-based access control for improved system security.</a:t>
            </a:r>
          </a:p>
        </p:txBody>
      </p:sp>
      <p:sp>
        <p:nvSpPr>
          <p:cNvPr id="22" name="Rectangle 21">
            <a:extLst>
              <a:ext uri="{FF2B5EF4-FFF2-40B4-BE49-F238E27FC236}">
                <a16:creationId xmlns:a16="http://schemas.microsoft.com/office/drawing/2014/main" id="{C01D2D68-8D3E-7346-AA87-1785F9CD718E}"/>
              </a:ext>
            </a:extLst>
          </p:cNvPr>
          <p:cNvSpPr/>
          <p:nvPr/>
        </p:nvSpPr>
        <p:spPr>
          <a:xfrm>
            <a:off x="12656128" y="7635834"/>
            <a:ext cx="1891145" cy="521029"/>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1205746" y="513755"/>
            <a:ext cx="4427101" cy="553283"/>
          </a:xfrm>
          <a:prstGeom prst="rect">
            <a:avLst/>
          </a:prstGeom>
          <a:noFill/>
          <a:ln/>
        </p:spPr>
        <p:txBody>
          <a:bodyPr wrap="none" lIns="0" tIns="0" rIns="0" bIns="0" rtlCol="0" anchor="t"/>
          <a:lstStyle/>
          <a:p>
            <a:pPr marL="0" indent="0" algn="l">
              <a:lnSpc>
                <a:spcPts val="4350"/>
              </a:lnSpc>
              <a:buNone/>
            </a:pPr>
            <a:r>
              <a:rPr lang="en-US" sz="3450" dirty="0">
                <a:solidFill>
                  <a:srgbClr val="3257B8"/>
                </a:solidFill>
                <a:latin typeface="Roboto Slab" pitchFamily="34" charset="0"/>
                <a:ea typeface="Roboto Slab" pitchFamily="34" charset="-122"/>
                <a:cs typeface="Roboto Slab" pitchFamily="34" charset="-120"/>
              </a:rPr>
              <a:t>Conclusion</a:t>
            </a:r>
            <a:endParaRPr lang="en-US" sz="3450" dirty="0"/>
          </a:p>
        </p:txBody>
      </p:sp>
      <p:sp>
        <p:nvSpPr>
          <p:cNvPr id="13" name="Rectangle 12">
            <a:extLst>
              <a:ext uri="{FF2B5EF4-FFF2-40B4-BE49-F238E27FC236}">
                <a16:creationId xmlns:a16="http://schemas.microsoft.com/office/drawing/2014/main" id="{73295D25-E1EE-FA4D-6B4C-F1950A1C0614}"/>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14" name="TextBox 13">
            <a:extLst>
              <a:ext uri="{FF2B5EF4-FFF2-40B4-BE49-F238E27FC236}">
                <a16:creationId xmlns:a16="http://schemas.microsoft.com/office/drawing/2014/main" id="{2F0A63BD-C3E9-2647-A13E-BE1ABF533FBA}"/>
              </a:ext>
            </a:extLst>
          </p:cNvPr>
          <p:cNvSpPr txBox="1"/>
          <p:nvPr/>
        </p:nvSpPr>
        <p:spPr>
          <a:xfrm>
            <a:off x="1205745" y="2036618"/>
            <a:ext cx="12198527" cy="2677656"/>
          </a:xfrm>
          <a:prstGeom prst="rect">
            <a:avLst/>
          </a:prstGeom>
          <a:noFill/>
        </p:spPr>
        <p:txBody>
          <a:bodyPr wrap="square" rtlCol="0">
            <a:spAutoFit/>
          </a:bodyPr>
          <a:lstStyle/>
          <a:p>
            <a:pPr algn="just"/>
            <a:r>
              <a:rPr lang="en-US" sz="2800" dirty="0" err="1">
                <a:latin typeface="Roboto" panose="02000000000000000000" pitchFamily="2" charset="0"/>
                <a:ea typeface="Roboto" panose="02000000000000000000" pitchFamily="2" charset="0"/>
                <a:cs typeface="Roboto" panose="02000000000000000000" pitchFamily="2" charset="0"/>
              </a:rPr>
              <a:t>AquaGuard</a:t>
            </a:r>
            <a:r>
              <a:rPr lang="en-US" sz="2800" dirty="0">
                <a:latin typeface="Roboto" panose="02000000000000000000" pitchFamily="2" charset="0"/>
                <a:ea typeface="Roboto" panose="02000000000000000000" pitchFamily="2" charset="0"/>
                <a:cs typeface="Roboto" panose="02000000000000000000" pitchFamily="2" charset="0"/>
              </a:rPr>
              <a:t> proposes a structured and transparent platform for monitoring water quality and infrastructure issues through community participation. By integrating moderator validation, real-time tracking, and authority notification within a MERN-based architecture, the system aims to improve accountability and response efficiency. The proposed solution lays a strong foundation for building a reliable and scalable water monitoring ecosystem.</a:t>
            </a:r>
            <a:endParaRPr lang="en-IN" sz="2800" dirty="0">
              <a:latin typeface="Roboto" panose="02000000000000000000" pitchFamily="2" charset="0"/>
              <a:ea typeface="Roboto" panose="02000000000000000000" pitchFamily="2" charset="0"/>
              <a:cs typeface="Roboto" panose="02000000000000000000" pitchFamily="2" charset="0"/>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2AF389-BD49-BF90-6D35-27FAF63544B0}"/>
            </a:ext>
          </a:extLst>
        </p:cNvPr>
        <p:cNvGrpSpPr/>
        <p:nvPr/>
      </p:nvGrpSpPr>
      <p:grpSpPr>
        <a:xfrm>
          <a:off x="0" y="0"/>
          <a:ext cx="0" cy="0"/>
          <a:chOff x="0" y="0"/>
          <a:chExt cx="0" cy="0"/>
        </a:xfrm>
      </p:grpSpPr>
      <p:sp>
        <p:nvSpPr>
          <p:cNvPr id="2" name="Text 0">
            <a:extLst>
              <a:ext uri="{FF2B5EF4-FFF2-40B4-BE49-F238E27FC236}">
                <a16:creationId xmlns:a16="http://schemas.microsoft.com/office/drawing/2014/main" id="{7D0D3205-E009-F695-AAD3-464920A1087A}"/>
              </a:ext>
            </a:extLst>
          </p:cNvPr>
          <p:cNvSpPr/>
          <p:nvPr/>
        </p:nvSpPr>
        <p:spPr>
          <a:xfrm>
            <a:off x="5101649" y="3838158"/>
            <a:ext cx="4427101" cy="553283"/>
          </a:xfrm>
          <a:prstGeom prst="rect">
            <a:avLst/>
          </a:prstGeom>
          <a:noFill/>
          <a:ln/>
        </p:spPr>
        <p:txBody>
          <a:bodyPr wrap="none" lIns="0" tIns="0" rIns="0" bIns="0" rtlCol="0" anchor="t"/>
          <a:lstStyle/>
          <a:p>
            <a:pPr marL="0" indent="0" algn="ctr">
              <a:lnSpc>
                <a:spcPts val="4350"/>
              </a:lnSpc>
              <a:buNone/>
            </a:pPr>
            <a:r>
              <a:rPr lang="en-US" sz="9600" dirty="0">
                <a:solidFill>
                  <a:srgbClr val="3257B8"/>
                </a:solidFill>
                <a:latin typeface="Roboto Slab" pitchFamily="34" charset="0"/>
                <a:ea typeface="Roboto Slab" pitchFamily="34" charset="-122"/>
                <a:cs typeface="Roboto Slab" pitchFamily="34" charset="-120"/>
              </a:rPr>
              <a:t>Thank You</a:t>
            </a:r>
            <a:endParaRPr lang="en-US" sz="9600" dirty="0"/>
          </a:p>
        </p:txBody>
      </p:sp>
      <p:sp>
        <p:nvSpPr>
          <p:cNvPr id="13" name="Rectangle 12">
            <a:extLst>
              <a:ext uri="{FF2B5EF4-FFF2-40B4-BE49-F238E27FC236}">
                <a16:creationId xmlns:a16="http://schemas.microsoft.com/office/drawing/2014/main" id="{2493A9ED-679F-2277-2A7C-17BE0F816AEA}"/>
              </a:ext>
            </a:extLst>
          </p:cNvPr>
          <p:cNvSpPr/>
          <p:nvPr/>
        </p:nvSpPr>
        <p:spPr>
          <a:xfrm>
            <a:off x="12656128" y="7491846"/>
            <a:ext cx="1891145" cy="665018"/>
          </a:xfrm>
          <a:prstGeom prst="rect">
            <a:avLst/>
          </a:prstGeom>
          <a:solidFill>
            <a:srgbClr val="FBFCFE"/>
          </a:solidFill>
          <a:ln>
            <a:solidFill>
              <a:srgbClr val="FBFCFE"/>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77921012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31</TotalTime>
  <Words>762</Words>
  <Application>Microsoft Office PowerPoint</Application>
  <PresentationFormat>Custom</PresentationFormat>
  <Paragraphs>87</Paragraphs>
  <Slides>14</Slides>
  <Notes>14</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14</vt:i4>
      </vt:variant>
    </vt:vector>
  </HeadingPairs>
  <TitlesOfParts>
    <vt:vector size="22" baseType="lpstr">
      <vt:lpstr>Times New Roman</vt:lpstr>
      <vt:lpstr>Arial</vt:lpstr>
      <vt:lpstr>Roboto</vt:lpstr>
      <vt:lpstr>Roboto Slab Light</vt:lpstr>
      <vt:lpstr>Roboto Slab</vt:lpstr>
      <vt:lpstr>Calibri</vt:lpstr>
      <vt:lpstr>Office Theme</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Mohammed Mubasheer</cp:lastModifiedBy>
  <cp:revision>3</cp:revision>
  <dcterms:created xsi:type="dcterms:W3CDTF">2026-03-01T12:39:21Z</dcterms:created>
  <dcterms:modified xsi:type="dcterms:W3CDTF">2026-03-01T13:19:48Z</dcterms:modified>
</cp:coreProperties>
</file>